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29184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TOTAL COST OF OWNERSHIP (TCO)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TGH HR Assistance Agent</a:t>
            </a:r>
            <a:br/>
            <a:r>
              <a:t>Consolidated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End-to-End Economic Breakdown: LLMs (Gemini/Mistral), Pinecone Vector DB,</a:t>
            </a:r>
            <a:br/>
            <a:r>
              <a:t>Jira Cloud Ticketing, and Hostinger n8n Orchestration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24231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AVG QUERY COST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&lt; $0.002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LLM + Vector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5029200"/>
            <a:ext cx="24231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DEFLECTION RATE</a:t>
            </a:r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80% - 85%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Automated RAG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029200"/>
            <a:ext cx="24231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EST. MONTHLY TCO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$65 - $160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Hostinger + Pinecone + Jira +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5029200"/>
            <a:ext cx="24231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ROI MULTIPLIER</a:t>
            </a:r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18x - 35x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Cost Avoidance vs Manual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Architecture &amp; Integrated Workflow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Orchestration Layer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MWF_HR_AssistanceAgent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Main Workflow Router</a:t>
            </a:r>
          </a:p>
          <a:p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MS Teams Trigger &amp; Graph API Integration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Context validation &amp; Chat History parsing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Dispatches to RAG sub-workflow &amp; Jira notifier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Audit logging into n8n native Data Table (HR_AGENT_AUDIT_LOG)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Adaptive Card feedback rendering (👍/👎/🎟️ Ticket)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914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2. AI &amp; Retrieval Layer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SWF_RAG_VectorSearch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RAG Intelligence Core</a:t>
            </a:r>
          </a:p>
          <a:p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Embeddings: Google Gemini Embedding-2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Vector Database: Pinecone ('allhrpolicydetails', top_k=4)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Reasoning LLM: Google Gemini Flash / Mistral Cloud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Dual classification: 'Sufficient' vs 'Insufficient Data'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Teams HTML formatting &amp; strict Anti-Hallucination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3. Escalation &amp; Ticketing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SWF_RAG_NotifyCustomer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Helpdesk Integration</a:t>
            </a:r>
          </a:p>
          <a:p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Autonomous Ticket Summarizer (Gemini Flash Lite agent)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Direct API integration with Atlassian Jira Cloud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Auto-generates Service Request under 'IT Helpdesk'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Attaches chat screenshots/images via MS Graph API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Sends Jira deep link back to employee &amp; audit log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Cost Component 1: LLM Reasoning &amp; Embeddings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TOKEN CONSUMPTION PROFILE (PER QUERY)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System Prompt &amp; Policy Rules: ~1,400 tokens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16 strict guidelines, formatting &amp; tone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Retrieved Policy Context (topK=4): ~1,800 tokens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 policy passages from Pinecone index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User Query &amp; Chat Thread History: ~250 tokens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Current employee question + context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Total Input Context: ~3,450 tokens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Processed per employee interaction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Generated Response Output: ~350 tokens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Teams HTML formatted answer + follow-ups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PRICING RATES &amp; PER-TRANSACTION COSTS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Google Gemini Flash (Primary RAG)</a:t>
            </a:r>
          </a:p>
          <a:p>
            <a:pPr>
              <a:defRPr sz="1100">
                <a:solidFill>
                  <a:srgbClr val="0D9488"/>
                </a:solidFill>
              </a:defRPr>
            </a:pPr>
            <a:r>
              <a:t>Rate: $0.075 / 1M Input | $0.30 / 1M Output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Base RAG cost: ~$0.00036 per query!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Google Gemini Embeddings</a:t>
            </a:r>
          </a:p>
          <a:p>
            <a:pPr>
              <a:defRPr sz="1100">
                <a:solidFill>
                  <a:srgbClr val="0D9488"/>
                </a:solidFill>
              </a:defRPr>
            </a:pPr>
            <a:r>
              <a:t>Rate: $0.00002 / 1k tokens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Negligible (~$0.000003 per search query)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Mistral Cloud (Alternative/Fallback)</a:t>
            </a:r>
          </a:p>
          <a:p>
            <a:pPr>
              <a:defRPr sz="1100">
                <a:solidFill>
                  <a:srgbClr val="0D9488"/>
                </a:solidFill>
              </a:defRPr>
            </a:pPr>
            <a:r>
              <a:t>Rate: $0.20 / 1M Input | $0.60 / 1M Output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Base cost: ~$0.00090 per query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Ticket Summarizer Agent (Escalations)</a:t>
            </a:r>
          </a:p>
          <a:p>
            <a:pPr>
              <a:defRPr sz="1100">
                <a:solidFill>
                  <a:srgbClr val="0D9488"/>
                </a:solidFill>
              </a:defRPr>
            </a:pPr>
            <a:r>
              <a:t>Rate: $0.00015 per escalated Jira ticket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Only triggered for ~15% unresolved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4937760"/>
            <a:ext cx="4754880" cy="10058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BLENDED LLM UNIT COST PER QUERY: $0.0005 - $0.0008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1,000 queries = $0.65 | 5,000 queries = $3.25 | 20,000 queries = $13.00</a:t>
            </a:r>
            <a:br/>
            <a:r>
              <a:t>Extreme efficiency achieved via Gemini Flash &amp; compact prompt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Cost Component 2: Vector Database &amp; Audit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PINECONE VECTOR DATABASE ('allhrpolicydetails')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Architecture Model: Serverless Index (Recommended &amp; Current)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Pay only for what is stored and queried without idle compute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Storage Sizing: &lt; 50 MB total policy vector data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Complete HR policy manual (50-100 docs) is &lt; 10,000 vectors</a:t>
            </a:r>
            <a:br/>
            <a:r>
              <a:t>Cost: $0.33/GB-mo = ~$0.05/month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Read Units (RU): 1-2 RUs per user inquiry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Rate: $0.004 per 1,000 RUs</a:t>
            </a:r>
            <a:br/>
            <a:r>
              <a:t>5,000 employee queries = 10,000 RUs = ~$0.04/month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Pinecone Monthly Cost: Free Tier to $5.00 / month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Serverless Starter includes up to $5/mo free credit, covering normal corporate HR search volume entirely!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Enterprise Pod Alternative: $70 - $140 / month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Only required if company policy demands dedicated VPC peering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AUDIT LOG &amp; STATE STORE ('HR_AGENT_AUDIT_LOG')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Native n8n Data Table: Internal SQLite / PostgreSQL instance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third-party SaaS subscription or per-row API licensing fee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Data Captured: Employee Name, Question, Response, Message ID, Jira Ticket #, Jira URL, Feedback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Full compliance and audit traceability per interaction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Storage Impact: ~1 KB per interaction record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20,000 queries = 20 MB database growth per month</a:t>
            </a:r>
            <a:br/>
            <a:r>
              <a:t>Negligible impact on server NVMe storage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Retention &amp; Backup: Automated cron purge or S3 dump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Historical logs easily exported to data lake at $0.023/GB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Incremental Cost: $0.00 / month (Fully Absorbable)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included in the existing Hostinger VPS hosting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Cost Component 3: Jira Helpdesk &amp; MS Teams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ATLASSIAN JIRA CLOUD (ram25tgh.atlassian.net)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Integration Role: Auto-creates Service Request on 'IT/HR Helpdesk'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Triggered when AI detects 'Insufficient Data' or user clicks 'Raise ticket'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Architectural Driver: Single Service Bot Account via REST API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KEY INSIGHT: Employees in MS Teams DO NOT need Jira licenses to raise tickets! Tickets are filed on their behalf via bot token.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Jira Service Management (JSM): Tiered by Agent Seats (HR Team)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• Free Tier: Up to 3 Agents = $0.00/mo (Ideal for pilot)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• Standard Tier: $22.05 / agent / mo (e.g. 3 HR agents = $66.15/mo)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• Unlimited Customers / Employees creating tickets at $0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Alternative: Jira Software: Standard: ~$8.15 / user / mo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If using standard Jira project boards for internal task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MICROSOFT TEAMS &amp; GRAPH API (FRONTEND)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Interaction Channel: 1:1 Chat Bot + Adaptive Feedback Cards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Delivers seamless employee experience natively inside Teams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API Infrastructure: Microsoft Graph API v1.0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Used for chat triggers, message fetching, attachments &amp; adaptive cards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Licensing Requirements: Existing M365 Business / Enterprise License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Uses existing corporate Microsoft 365 E3/E5/Business seats.</a:t>
            </a:r>
            <a:br/>
            <a:r>
              <a:t>Zero incremental bot subscription required from Microsoft.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Graph API Call Limits: Protected Tier Limits (10k+ calls/min)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Current polling and webhook triggers comfortably operate within standard Microsoft tenant service limits.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Net Incremental Cost: $0.00 / month (100% Sunk Corporate Asset)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Leverages enterprise tools already deployed in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Cost Component 4: n8n Orchestration &amp; Hosting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</a:defRPr>
            </a:pPr>
            <a:r>
              <a:t>CURRENT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Hostinger Cloud VPS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Self-Hosted Docker Setup</a:t>
            </a:r>
          </a:p>
          <a:p>
            <a:pPr>
              <a:spcBef>
                <a:spcPts val="800"/>
              </a:spcBef>
              <a:defRPr sz="2400" b="1">
                <a:solidFill>
                  <a:srgbClr val="10B981"/>
                </a:solidFill>
              </a:defRPr>
            </a:pPr>
            <a:r>
              <a:t>$12 - $24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/ month</a:t>
            </a:r>
          </a:p>
          <a:p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Running at: n8n.srv1901759.hstgr.cloud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Specifications: 2-4 vCPU, 8-16 GB RAM, NVMe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Unlimited workflow executions &amp; triggers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n8n Community Edition (Open Source, $0 license)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Direct full control over data residency &amp; privacy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Fixed predictable monthly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</a:defRPr>
            </a:pPr>
            <a:r>
              <a:t>MANAGED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74519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n8n Cloud (Pro)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Fully Managed Hosting</a:t>
            </a:r>
          </a:p>
          <a:p>
            <a:pPr>
              <a:spcBef>
                <a:spcPts val="800"/>
              </a:spcBef>
              <a:defRPr sz="2400" b="1">
                <a:solidFill>
                  <a:srgbClr val="2563EB"/>
                </a:solidFill>
              </a:defRPr>
            </a:pPr>
            <a:r>
              <a:t>$25 - $55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/ month (€20-50)</a:t>
            </a:r>
          </a:p>
          <a:p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Hosted directly by n8n.io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Zero server maintenance, auto-updates &amp; backups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Execution limits: 2.5k - 10k executions/mo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Additional execution bundles cost extra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Good for teams without DevOps personnel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Higher variable cost at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32004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</a:defRPr>
            </a:pPr>
            <a:r>
              <a:t>ENTERPRISE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n8n Enterprise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Compliance &amp; Governance</a:t>
            </a:r>
          </a:p>
          <a:p>
            <a:pPr>
              <a:spcBef>
                <a:spcPts val="800"/>
              </a:spcBef>
              <a:defRPr sz="2400" b="1">
                <a:solidFill>
                  <a:srgbClr val="64748B"/>
                </a:solidFill>
              </a:defRPr>
            </a:pPr>
            <a:r>
              <a:t>$500+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/ month</a:t>
            </a:r>
          </a:p>
          <a:p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Advanced Role-Based Access Control (RBAC)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Single Sign-On (SAML / Okta / Azure AD)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External secret managers &amp; custom logging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Dedicated SLA and enterprise support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Only necessary for strict SOC2/ISO compliance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Optional future upgrade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Consolidated TCO Model Across Operating Scales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920240"/>
                <a:gridCol w="2011680"/>
                <a:gridCol w="2011680"/>
              </a:tblGrid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Cost Component / Layer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Unit Pricing Basis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Pilot (1k queries/mo)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Production (5k/mo)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Enterprise (20k/mo)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1. LLM &amp; Embeddings (Gemini Flash)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~$0.00065 /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$0.65 /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$3.25 /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$13.00 /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2. Vector Database (Pinecone Serverless)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Storage + RU Usage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$0.00 (Free Tier)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$2.50 /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$8.00 /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3. Ticketing (Jira Service Mgmt - 3 Agents)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Per Agent ($22/mo) or Free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$0.00 (Free 3-agent)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$66.15 (3 agents)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$66.15 (3 agents)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4. Infrastructure (Hostinger VPS n8n)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KVM VPS Compute &amp; Storage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$14.00 /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$18.00 /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$24.00 / mo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5. MS Teams, Graph API &amp; Audit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Corporate Sunk Asset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$0.00 /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$0.00 /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F172A"/>
                          </a:solidFill>
                        </a:defRPr>
                      </a:pPr>
                      <a:r>
                        <a:t>$0.00 / 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TOTAL CONSOLIDATED MONTHLY COST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Fixed + Variable Combined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$14.65 - $15 / mo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$89.90 - $90 / mo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$111.15 - $115 / mo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KEY TAKEAWAY: TOTAL COST PER EMPLOYEE QUERY IS UNDER $0.02 (LESS THAN 2 CENTS!)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At 5,000 monthly queries, total solution cost is ~$90/month ($1,080/year), including Jira triage seats, Hostinger hosting, and AI compute. If Jira is already an active corporate subscription, the net added cost is merely ~$25/month!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Business Value, Deflection Rate &amp; Cost Avoidance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HR SUPPORT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Manual Ticket Handling</a:t>
            </a:r>
          </a:p>
          <a:p>
            <a:pPr>
              <a:spcBef>
                <a:spcPts val="1000"/>
              </a:spcBef>
              <a:defRPr sz="3200" b="1">
                <a:solidFill>
                  <a:srgbClr val="EF4444"/>
                </a:solidFill>
              </a:defRPr>
            </a:pPr>
            <a:r>
              <a:t>$18.50</a:t>
            </a:r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per ticket handled by HR staff</a:t>
            </a:r>
          </a:p>
          <a:p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Average 15-25 minutes HR triage time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Email &amp; Slack back-and-forth delays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Slow turnaround on routine policy FAQs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5,000 inquiries = ~$92,500 labor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AI AGENT DEFLECTION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Autonomous RAG Resolution</a:t>
            </a:r>
          </a:p>
          <a:p>
            <a:pPr>
              <a:spcBef>
                <a:spcPts val="1000"/>
              </a:spcBef>
              <a:defRPr sz="3200" b="1">
                <a:solidFill>
                  <a:srgbClr val="10B981"/>
                </a:solidFill>
              </a:defRPr>
            </a:pPr>
            <a:r>
              <a:t>$0.001</a:t>
            </a:r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per direct AI resolved answer</a:t>
            </a:r>
          </a:p>
          <a:p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Instant answers (&lt; 3 seconds in Teams)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80% - 85% inquiries resolved at zero escalation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Strict anti-hallucination policy guardrails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Available 24x7 across all shifts &amp; timezones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NET ANNUAL SAVINGS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Cost Avoidance &amp; Efficiency</a:t>
            </a:r>
          </a:p>
          <a:p>
            <a:pPr>
              <a:spcBef>
                <a:spcPts val="1000"/>
              </a:spcBef>
              <a:defRPr sz="3200" b="1">
                <a:solidFill>
                  <a:srgbClr val="2563EB"/>
                </a:solidFill>
              </a:defRPr>
            </a:pPr>
            <a:r>
              <a:t>$45,000+</a:t>
            </a:r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annualized productivity gain</a:t>
            </a:r>
          </a:p>
          <a:p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Over 4,000 manual HR hours saved annually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HR team focuses on strategic high-value tasks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Automated Jira tickets created with full context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• Payback period: Immediate (&lt; 14 days)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HR ASSISTANCE AGENT • COST &amp; ARCHITECTURE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Cost Optimization &amp; Architectural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Context &amp; Retrieval Tuning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Top-K Optimization: </a:t>
            </a:r>
            <a:r>
              <a:rPr b="0">
                <a:solidFill>
                  <a:srgbClr val="94A3B8"/>
                </a:solidFill>
              </a:rPr>
              <a:t>Keep topK=4 chunks. Avoid excessive context stuffing to keep input tokens under 3,500.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Chunk Size Standardization: </a:t>
            </a:r>
            <a:r>
              <a:rPr b="0">
                <a:solidFill>
                  <a:srgbClr val="94A3B8"/>
                </a:solidFill>
              </a:rPr>
              <a:t>Ensure chunks are 300-500 tokens with metadata to prevent duplicate document segments.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Hybrid Filtering: </a:t>
            </a:r>
            <a:r>
              <a:rPr b="0">
                <a:solidFill>
                  <a:srgbClr val="94A3B8"/>
                </a:solidFill>
              </a:rPr>
              <a:t>Use metadata filtering (e.g. policy_type='leave') to reduce vector search compute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Model Selection &amp; Fallback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Default to Gemini Flash: </a:t>
            </a:r>
            <a:r>
              <a:rPr b="0">
                <a:solidFill>
                  <a:srgbClr val="94A3B8"/>
                </a:solidFill>
              </a:rPr>
              <a:t>Gemini 1.5/2.0 Flash provides state-of-the-art reasoning at 10x lower cost than GPT-4o.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Mistral Cloud as Redundant Fallback: </a:t>
            </a:r>
            <a:r>
              <a:rPr b="0">
                <a:solidFill>
                  <a:srgbClr val="94A3B8"/>
                </a:solidFill>
              </a:rPr>
              <a:t>Keep Mistral as an active fallback only when primary API limits or rate-limits are hit.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Prompt Caching: </a:t>
            </a:r>
            <a:r>
              <a:rPr b="0">
                <a:solidFill>
                  <a:srgbClr val="94A3B8"/>
                </a:solidFill>
              </a:rPr>
              <a:t>Leverage prompt caching for the 1,400-token system prompt for an additional 50% discount on inputs.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Jira &amp; Helpdesk Efficiency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De-duplication Logic: </a:t>
            </a:r>
            <a:r>
              <a:rPr b="0">
                <a:solidFill>
                  <a:srgbClr val="94A3B8"/>
                </a:solidFill>
              </a:rPr>
              <a:t>Ensure existing open tickets by the same user on the same topic prevent duplicate ticket creation.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Batch Screenshot Attachments: </a:t>
            </a:r>
            <a:r>
              <a:rPr b="0">
                <a:solidFill>
                  <a:srgbClr val="94A3B8"/>
                </a:solidFill>
              </a:rPr>
              <a:t>Only fetch and attach images when image IDs exist (already implemented in workflow).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Bot Account Optimization: </a:t>
            </a:r>
            <a:r>
              <a:rPr b="0">
                <a:solidFill>
                  <a:srgbClr val="94A3B8"/>
                </a:solidFill>
              </a:rPr>
              <a:t>Maintain single integration service user to keep Jira billing locked to actual human HR 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2336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Infrastructure Rightsizing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Hostinger VPS Scaling: </a:t>
            </a:r>
            <a:r>
              <a:rPr b="0">
                <a:solidFill>
                  <a:srgbClr val="94A3B8"/>
                </a:solidFill>
              </a:rPr>
              <a:t>2 vCPU / 8GB RAM ($14/mo) easily handles 10,000+ executions/month with sub-second response.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Automated Audit Archival: </a:t>
            </a:r>
            <a:r>
              <a:rPr b="0">
                <a:solidFill>
                  <a:srgbClr val="94A3B8"/>
                </a:solidFill>
              </a:rPr>
              <a:t>Purge or archive n8n execution data older than 30 days to keep database footprint compact.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• Webhook Health Monitoring: </a:t>
            </a:r>
            <a:r>
              <a:rPr b="0">
                <a:solidFill>
                  <a:srgbClr val="94A3B8"/>
                </a:solidFill>
              </a:rPr>
              <a:t>Configure uptime heartbeats on n8n webhooks to prevent dropped employee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Alignment &amp; Final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CONSOLIDATED BOTTOM LINE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✔ Extremely Lean Cost Structure: Full stack operates at under $90 - $115/month for 5,000 to 20,000 monthly employee queries.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✔ Zero Employee Licensing Overhead: Microsoft Teams front-end and Jira bot integrations incur $0 extra per employee.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✔ Massive ROI &amp; Deflection: By deflecting 80-85% of repetitive HR inquiries, the system pays for itself in less than 2 weeks.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✔ Production-Ready Architecture: Already connected and configured with Hostinger VPS, Pinecone, Jira Cloud, and n8n.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ALIGNMENT QUESTIONS FOR FINAL BUDGET SIGN-OFF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? Expected Monthly Query Volume: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What is your target headcount and expected inquiry volume (e.g. 500, 2,500, or 10,000 queries/month)?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? Existing Jira Licensing: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Does your IT/HR department already hold active Jira Service Management (JSM) agent licenses, or should this be budgeted as new spend?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? Pinecone Tier Preference: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Is Pinecone Serverless ($0-5/mo) approved by security, or does compliance require a dedicated AWS/GCP Private VPC pod ($70/mo)?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? Primary vs Fallback Model Policy: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Do you prefer keeping Gemini Flash as 100% primary (lowest cost), or routing specific confidential topics to private models?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