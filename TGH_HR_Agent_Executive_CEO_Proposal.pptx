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solidFill>
              <a:srgbClr val="0B13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14400" y="1005840"/>
            <a:ext cx="3840480" cy="347472"/>
          </a:xfrm>
          <a:prstGeom prst="roundRect">
            <a:avLst/>
          </a:prstGeom>
          <a:solidFill>
            <a:srgbClr val="1C2541"/>
          </a:solidFill>
          <a:ln>
            <a:solidFill>
              <a:srgbClr val="1C25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tIns="0" rIns="0" bIns="0"/>
          <a:lstStyle/>
          <a:p>
            <a:pPr algn="ctr">
              <a:defRPr sz="1050" b="1">
                <a:solidFill>
                  <a:srgbClr val="06B6D4"/>
                </a:solidFill>
              </a:defRPr>
            </a:pPr>
            <a:r>
              <a:t>EXECUTIVE BRIEFING • CEO PROPOSAL (V2)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00200"/>
            <a:ext cx="103327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F8FAFC"/>
                </a:solidFill>
              </a:defRPr>
            </a:pPr>
            <a:r>
              <a:t>AI HR Assistance Agent</a:t>
            </a:r>
          </a:p>
          <a:p>
            <a:pPr>
              <a:spcBef>
                <a:spcPts val="800"/>
              </a:spcBef>
              <a:defRPr sz="2300" b="1">
                <a:solidFill>
                  <a:srgbClr val="06B6D4"/>
                </a:solidFill>
              </a:defRPr>
            </a:pPr>
            <a:r>
              <a:t>Production Cost, Real-Time Data Scalability &amp; Strategic ROI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749039"/>
            <a:ext cx="10332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50">
                <a:solidFill>
                  <a:srgbClr val="94A3B8"/>
                </a:solidFill>
              </a:defRPr>
            </a:pPr>
            <a:r>
              <a:t>End-to-end operational plan leveraging existing Hostinger VPS &amp; MS Teams infrastructure,</a:t>
            </a:r>
            <a:br/>
            <a:r>
              <a:t>addressing real-time enterprise database scaling beyond 50MB, with optional ITSM ticketing.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4892040"/>
            <a:ext cx="2423160" cy="1325880"/>
          </a:xfrm>
          <a:prstGeom prst="roundRect">
            <a:avLst/>
          </a:prstGeom>
          <a:solidFill>
            <a:srgbClr val="131E3A"/>
          </a:solidFill>
          <a:ln w="12700">
            <a:solidFill>
              <a:srgbClr val="1C25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94A3B8"/>
                </a:solidFill>
              </a:defRPr>
            </a:pPr>
            <a:r>
              <a:t>HOSTINGER VPS</a:t>
            </a:r>
          </a:p>
          <a:p>
            <a:pPr>
              <a:spcBef>
                <a:spcPts val="200"/>
              </a:spcBef>
              <a:defRPr sz="1900" b="1">
                <a:solidFill>
                  <a:srgbClr val="10B981"/>
                </a:solidFill>
              </a:defRPr>
            </a:pPr>
            <a:r>
              <a:t>$0.00 Net New</a:t>
            </a:r>
          </a:p>
          <a:p>
            <a:pPr>
              <a:defRPr sz="900">
                <a:solidFill>
                  <a:srgbClr val="94A3B8"/>
                </a:solidFill>
              </a:defRPr>
            </a:pPr>
            <a:r>
              <a:t>100% Sunk Asset Leveraged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4892040"/>
            <a:ext cx="2423160" cy="54864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520440" y="4892040"/>
            <a:ext cx="2423160" cy="1325880"/>
          </a:xfrm>
          <a:prstGeom prst="roundRect">
            <a:avLst/>
          </a:prstGeom>
          <a:solidFill>
            <a:srgbClr val="131E3A"/>
          </a:solidFill>
          <a:ln w="12700">
            <a:solidFill>
              <a:srgbClr val="1C25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94A3B8"/>
                </a:solidFill>
              </a:defRPr>
            </a:pPr>
            <a:r>
              <a:t>REAL-TIME DATABASE</a:t>
            </a:r>
          </a:p>
          <a:p>
            <a:pPr>
              <a:spcBef>
                <a:spcPts val="200"/>
              </a:spcBef>
              <a:defRPr sz="1900" b="1">
                <a:solidFill>
                  <a:srgbClr val="06B6D4"/>
                </a:solidFill>
              </a:defRPr>
            </a:pPr>
            <a:r>
              <a:t>1 GB - 50 GB+</a:t>
            </a:r>
          </a:p>
          <a:p>
            <a:pPr>
              <a:defRPr sz="900">
                <a:solidFill>
                  <a:srgbClr val="94A3B8"/>
                </a:solidFill>
              </a:defRPr>
            </a:pPr>
            <a:r>
              <a:t>Decoupled PostgreSQL / Pinecone</a:t>
            </a:r>
          </a:p>
        </p:txBody>
      </p:sp>
      <p:sp>
        <p:nvSpPr>
          <p:cNvPr id="9" name="Rectangle 8"/>
          <p:cNvSpPr/>
          <p:nvPr/>
        </p:nvSpPr>
        <p:spPr>
          <a:xfrm>
            <a:off x="3520440" y="4892040"/>
            <a:ext cx="2423160" cy="54864"/>
          </a:xfrm>
          <a:prstGeom prst="rect">
            <a:avLst/>
          </a:prstGeom>
          <a:solidFill>
            <a:srgbClr val="06B6D4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126480" y="4892040"/>
            <a:ext cx="2423160" cy="1325880"/>
          </a:xfrm>
          <a:prstGeom prst="roundRect">
            <a:avLst/>
          </a:prstGeom>
          <a:solidFill>
            <a:srgbClr val="131E3A"/>
          </a:solidFill>
          <a:ln w="12700">
            <a:solidFill>
              <a:srgbClr val="1C25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94A3B8"/>
                </a:solidFill>
              </a:defRPr>
            </a:pPr>
            <a:r>
              <a:t>TICKETING MODULE</a:t>
            </a:r>
          </a:p>
          <a:p>
            <a:pPr>
              <a:spcBef>
                <a:spcPts val="200"/>
              </a:spcBef>
              <a:defRPr sz="1900" b="1">
                <a:solidFill>
                  <a:srgbClr val="F59E0B"/>
                </a:solidFill>
              </a:defRPr>
            </a:pPr>
            <a:r>
              <a:t>OPTIONAL</a:t>
            </a:r>
          </a:p>
          <a:p>
            <a:pPr>
              <a:defRPr sz="900">
                <a:solidFill>
                  <a:srgbClr val="94A3B8"/>
                </a:solidFill>
              </a:defRPr>
            </a:pPr>
            <a:r>
              <a:t>Teams Native ($0) or Jira Cloud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26480" y="4892040"/>
            <a:ext cx="2423160" cy="54864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732520" y="4892040"/>
            <a:ext cx="2423160" cy="1325880"/>
          </a:xfrm>
          <a:prstGeom prst="roundRect">
            <a:avLst/>
          </a:prstGeom>
          <a:solidFill>
            <a:srgbClr val="131E3A"/>
          </a:solidFill>
          <a:ln w="12700">
            <a:solidFill>
              <a:srgbClr val="1C25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94A3B8"/>
                </a:solidFill>
              </a:defRPr>
            </a:pPr>
            <a:r>
              <a:t>HR DEFLECTION RATE</a:t>
            </a:r>
          </a:p>
          <a:p>
            <a:pPr>
              <a:spcBef>
                <a:spcPts val="200"/>
              </a:spcBef>
              <a:defRPr sz="1900" b="1">
                <a:solidFill>
                  <a:srgbClr val="10B981"/>
                </a:solidFill>
              </a:defRPr>
            </a:pPr>
            <a:r>
              <a:t>85%+</a:t>
            </a:r>
          </a:p>
          <a:p>
            <a:pPr>
              <a:defRPr sz="900">
                <a:solidFill>
                  <a:srgbClr val="94A3B8"/>
                </a:solidFill>
              </a:defRPr>
            </a:pPr>
            <a:r>
              <a:t>Instant Autonomous Resolution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732520" y="4892040"/>
            <a:ext cx="2423160" cy="54864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47472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2563EB"/>
                </a:solidFill>
              </a:defRPr>
            </a:pPr>
            <a:r>
              <a:t>TGH AI INITIATIVE • EXECUTIVE STRATEGY &amp;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0F172A"/>
                </a:solidFill>
              </a:defRPr>
            </a:pPr>
            <a:r>
              <a:t>Executive Overview: Delivering AI at Near-Zero Incremental Cost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3474720" cy="4937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371600"/>
            <a:ext cx="3474720" cy="9144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14400" y="1600200"/>
            <a:ext cx="1645920" cy="256032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tIns="0" rIns="0" bIns="0"/>
          <a:lstStyle/>
          <a:p>
            <a:pPr algn="ctr">
              <a:defRPr sz="850" b="1">
                <a:solidFill>
                  <a:srgbClr val="10B981"/>
                </a:solidFill>
              </a:defRPr>
            </a:pPr>
            <a:r>
              <a:t>ALREADY FUNDED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920240"/>
            <a:ext cx="31089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172A"/>
                </a:solidFill>
              </a:defRPr>
            </a:pPr>
            <a:r>
              <a:t>What We Already Own</a:t>
            </a:r>
          </a:p>
          <a:p>
            <a:pPr>
              <a:spcBef>
                <a:spcPts val="300"/>
              </a:spcBef>
              <a:defRPr sz="1900" b="1">
                <a:solidFill>
                  <a:srgbClr val="10B981"/>
                </a:solidFill>
              </a:defRPr>
            </a:pPr>
            <a:r>
              <a:t>$0.00 Net-New</a:t>
            </a:r>
          </a:p>
          <a:p>
            <a:pPr>
              <a:spcBef>
                <a:spcPts val="600"/>
              </a:spcBef>
              <a:defRPr sz="1050" b="1">
                <a:solidFill>
                  <a:srgbClr val="0F172A"/>
                </a:solidFill>
              </a:defRPr>
            </a:pPr>
            <a:r>
              <a:t>✔ Hostinger Cloud VPS</a:t>
            </a:r>
          </a:p>
          <a:p>
            <a:pPr>
              <a:defRPr sz="900">
                <a:solidFill>
                  <a:srgbClr val="64748B"/>
                </a:solidFill>
              </a:defRPr>
            </a:pPr>
            <a:r>
              <a:t>Our n8n instance is already active and running on Hostinger VPS.</a:t>
            </a:r>
          </a:p>
          <a:p>
            <a:pPr>
              <a:spcBef>
                <a:spcPts val="600"/>
              </a:spcBef>
              <a:defRPr sz="1050" b="1">
                <a:solidFill>
                  <a:srgbClr val="0F172A"/>
                </a:solidFill>
              </a:defRPr>
            </a:pPr>
            <a:r>
              <a:t>✔ Microsoft Teams / M365</a:t>
            </a:r>
          </a:p>
          <a:p>
            <a:pPr>
              <a:defRPr sz="900">
                <a:solidFill>
                  <a:srgbClr val="64748B"/>
                </a:solidFill>
              </a:defRPr>
            </a:pPr>
            <a:r>
              <a:t>Corporate licenses already exist. Zero per-user bot fees.</a:t>
            </a:r>
          </a:p>
          <a:p>
            <a:pPr>
              <a:spcBef>
                <a:spcPts val="600"/>
              </a:spcBef>
              <a:defRPr sz="1050" b="1">
                <a:solidFill>
                  <a:srgbClr val="0F172A"/>
                </a:solidFill>
              </a:defRPr>
            </a:pPr>
            <a:r>
              <a:t>✔ n8n Orchestration Core</a:t>
            </a:r>
          </a:p>
          <a:p>
            <a:pPr>
              <a:defRPr sz="900">
                <a:solidFill>
                  <a:srgbClr val="64748B"/>
                </a:solidFill>
              </a:defRPr>
            </a:pPr>
            <a:r>
              <a:t>Self-hosted Community Edition gives unlimited workflow runs.</a:t>
            </a:r>
          </a:p>
          <a:p>
            <a:pPr>
              <a:spcBef>
                <a:spcPts val="600"/>
              </a:spcBef>
              <a:defRPr sz="1050" b="1">
                <a:solidFill>
                  <a:srgbClr val="0F172A"/>
                </a:solidFill>
              </a:defRPr>
            </a:pPr>
            <a:r>
              <a:t>✔ PostgreSQL on Hostinger</a:t>
            </a:r>
          </a:p>
          <a:p>
            <a:pPr>
              <a:defRPr sz="900">
                <a:solidFill>
                  <a:srgbClr val="64748B"/>
                </a:solidFill>
              </a:defRPr>
            </a:pPr>
            <a:r>
              <a:t>Hostinger VPS can host our production database at $0 extra cost.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371600"/>
            <a:ext cx="3474720" cy="4937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43400" y="1371600"/>
            <a:ext cx="3474720" cy="9144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526280" y="1600200"/>
            <a:ext cx="1645920" cy="256032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tIns="0" rIns="0" bIns="0"/>
          <a:lstStyle/>
          <a:p>
            <a:pPr algn="ctr">
              <a:defRPr sz="850" b="1">
                <a:solidFill>
                  <a:srgbClr val="2563EB"/>
                </a:solidFill>
              </a:defRPr>
            </a:pPr>
            <a:r>
              <a:t>CORE ENGINE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26280" y="1920240"/>
            <a:ext cx="31089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172A"/>
                </a:solidFill>
              </a:defRPr>
            </a:pPr>
            <a:r>
              <a:t>Incremental Intelligence</a:t>
            </a:r>
          </a:p>
          <a:p>
            <a:pPr>
              <a:spcBef>
                <a:spcPts val="300"/>
              </a:spcBef>
              <a:defRPr sz="1900" b="1">
                <a:solidFill>
                  <a:srgbClr val="2563EB"/>
                </a:solidFill>
              </a:defRPr>
            </a:pPr>
            <a:r>
              <a:t>&lt; $5 - $8 / month</a:t>
            </a:r>
          </a:p>
          <a:p>
            <a:pPr>
              <a:spcBef>
                <a:spcPts val="600"/>
              </a:spcBef>
              <a:defRPr sz="1050" b="1">
                <a:solidFill>
                  <a:srgbClr val="0F172A"/>
                </a:solidFill>
              </a:defRPr>
            </a:pPr>
            <a:r>
              <a:t>✔ Google Gemini Flash</a:t>
            </a:r>
          </a:p>
          <a:p>
            <a:pPr>
              <a:defRPr sz="900">
                <a:solidFill>
                  <a:srgbClr val="64748B"/>
                </a:solidFill>
              </a:defRPr>
            </a:pPr>
            <a:r>
              <a:t>Ultra-cost-efficient LLM: ~$0.0006 per inquiry (&lt;0.1 cents!).</a:t>
            </a:r>
          </a:p>
          <a:p>
            <a:pPr>
              <a:spcBef>
                <a:spcPts val="600"/>
              </a:spcBef>
              <a:defRPr sz="1050" b="1">
                <a:solidFill>
                  <a:srgbClr val="0F172A"/>
                </a:solidFill>
              </a:defRPr>
            </a:pPr>
            <a:r>
              <a:t>✔ Real-Time Vector Scaling</a:t>
            </a:r>
          </a:p>
          <a:p>
            <a:pPr>
              <a:defRPr sz="900">
                <a:solidFill>
                  <a:srgbClr val="64748B"/>
                </a:solidFill>
              </a:defRPr>
            </a:pPr>
            <a:r>
              <a:t>Scales to gigabytes of documents: $0.33/GB on Pinecone Serverless.</a:t>
            </a:r>
          </a:p>
          <a:p>
            <a:pPr>
              <a:spcBef>
                <a:spcPts val="600"/>
              </a:spcBef>
              <a:defRPr sz="1050" b="1">
                <a:solidFill>
                  <a:srgbClr val="0F172A"/>
                </a:solidFill>
              </a:defRPr>
            </a:pPr>
            <a:r>
              <a:t>✔ Decoupled Audit Store</a:t>
            </a:r>
          </a:p>
          <a:p>
            <a:pPr>
              <a:defRPr sz="900">
                <a:solidFill>
                  <a:srgbClr val="64748B"/>
                </a:solidFill>
              </a:defRPr>
            </a:pPr>
            <a:r>
              <a:t>Moving beyond small data tables to enterprise PostgreSQL.</a:t>
            </a:r>
          </a:p>
          <a:p>
            <a:pPr>
              <a:spcBef>
                <a:spcPts val="600"/>
              </a:spcBef>
              <a:defRPr sz="1050" b="1">
                <a:solidFill>
                  <a:srgbClr val="0F172A"/>
                </a:solidFill>
              </a:defRPr>
            </a:pPr>
            <a:r>
              <a:t>✔ Predictable Sizing</a:t>
            </a:r>
          </a:p>
          <a:p>
            <a:pPr>
              <a:defRPr sz="900">
                <a:solidFill>
                  <a:srgbClr val="64748B"/>
                </a:solidFill>
              </a:defRPr>
            </a:pPr>
            <a:r>
              <a:t>5,000 monthly employee queries = ~$3.25 in total AI compute.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55280" y="1371600"/>
            <a:ext cx="3474720" cy="4937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955280" y="1371600"/>
            <a:ext cx="3474720" cy="91440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138160" y="1600200"/>
            <a:ext cx="1645920" cy="256032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tIns="0" rIns="0" bIns="0"/>
          <a:lstStyle/>
          <a:p>
            <a:pPr algn="ctr">
              <a:defRPr sz="850" b="1">
                <a:solidFill>
                  <a:srgbClr val="F59E0B"/>
                </a:solidFill>
              </a:defRPr>
            </a:pPr>
            <a:r>
              <a:t>OPTIONAL MODULE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38160" y="1920240"/>
            <a:ext cx="31089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172A"/>
                </a:solidFill>
              </a:defRPr>
            </a:pPr>
            <a:r>
              <a:t>Ticketing &amp; Helpdesk</a:t>
            </a:r>
          </a:p>
          <a:p>
            <a:pPr>
              <a:spcBef>
                <a:spcPts val="300"/>
              </a:spcBef>
              <a:defRPr sz="1900" b="1">
                <a:solidFill>
                  <a:srgbClr val="F59E0B"/>
                </a:solidFill>
              </a:defRPr>
            </a:pPr>
            <a:r>
              <a:t>OPTIONAL / AS NEEDED</a:t>
            </a:r>
          </a:p>
          <a:p>
            <a:pPr>
              <a:spcBef>
                <a:spcPts val="600"/>
              </a:spcBef>
              <a:defRPr sz="1050" b="1">
                <a:solidFill>
                  <a:srgbClr val="0F172A"/>
                </a:solidFill>
              </a:defRPr>
            </a:pPr>
            <a:r>
              <a:t>✔ Native Mode ($0 Cost)</a:t>
            </a:r>
          </a:p>
          <a:p>
            <a:pPr>
              <a:defRPr sz="900">
                <a:solidFill>
                  <a:srgbClr val="64748B"/>
                </a:solidFill>
              </a:defRPr>
            </a:pPr>
            <a:r>
              <a:t>Escalations routed to dedicated HR Teams Channel via webhook.</a:t>
            </a:r>
          </a:p>
          <a:p>
            <a:pPr>
              <a:spcBef>
                <a:spcPts val="600"/>
              </a:spcBef>
              <a:defRPr sz="1050" b="1">
                <a:solidFill>
                  <a:srgbClr val="0F172A"/>
                </a:solidFill>
              </a:defRPr>
            </a:pPr>
            <a:r>
              <a:t>✔ Optional Jira / JSM</a:t>
            </a:r>
          </a:p>
          <a:p>
            <a:pPr>
              <a:defRPr sz="900">
                <a:solidFill>
                  <a:srgbClr val="64748B"/>
                </a:solidFill>
              </a:defRPr>
            </a:pPr>
            <a:r>
              <a:t>Plugs into Atlassian Jira Cloud if formal IT/HR ticketing is desired.</a:t>
            </a:r>
          </a:p>
          <a:p>
            <a:pPr>
              <a:spcBef>
                <a:spcPts val="600"/>
              </a:spcBef>
              <a:defRPr sz="1050" b="1">
                <a:solidFill>
                  <a:srgbClr val="0F172A"/>
                </a:solidFill>
              </a:defRPr>
            </a:pPr>
            <a:r>
              <a:t>✔ Optional ServiceNow</a:t>
            </a:r>
          </a:p>
          <a:p>
            <a:pPr>
              <a:defRPr sz="900">
                <a:solidFill>
                  <a:srgbClr val="64748B"/>
                </a:solidFill>
              </a:defRPr>
            </a:pPr>
            <a:r>
              <a:t>Enterprise connector ready if corporate ITSM is required.</a:t>
            </a:r>
          </a:p>
          <a:p>
            <a:pPr>
              <a:spcBef>
                <a:spcPts val="600"/>
              </a:spcBef>
              <a:defRPr sz="1050" b="1">
                <a:solidFill>
                  <a:srgbClr val="0F172A"/>
                </a:solidFill>
              </a:defRPr>
            </a:pPr>
            <a:r>
              <a:t>✔ Modular Architecture</a:t>
            </a:r>
          </a:p>
          <a:p>
            <a:pPr>
              <a:defRPr sz="900">
                <a:solidFill>
                  <a:srgbClr val="64748B"/>
                </a:solidFill>
              </a:defRPr>
            </a:pPr>
            <a:r>
              <a:t>Ticketing can be enabled or disabled with a single toggle.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47472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2563EB"/>
                </a:solidFill>
              </a:defRPr>
            </a:pPr>
            <a:r>
              <a:t>TGH AI INITIATIVE • EXECUTIVE STRATEGY &amp;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0F172A"/>
                </a:solidFill>
              </a:defRPr>
            </a:pPr>
            <a:r>
              <a:t>Production Architecture: 3 Integrated n8n Workflows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371600"/>
            <a:ext cx="2606040" cy="4937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94360" y="1371600"/>
            <a:ext cx="2606040" cy="73152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572768"/>
            <a:ext cx="1463040" cy="256032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tIns="0" rIns="0" bIns="0"/>
          <a:lstStyle/>
          <a:p>
            <a:pPr algn="ctr">
              <a:defRPr sz="800" b="1">
                <a:solidFill>
                  <a:srgbClr val="2563EB"/>
                </a:solidFill>
              </a:defRPr>
            </a:pPr>
            <a:r>
              <a:t>HOSTINGER VPS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901952"/>
            <a:ext cx="23317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Step 1: Front-End Router</a:t>
            </a:r>
          </a:p>
          <a:p>
            <a:pPr>
              <a:defRPr sz="1200" b="1">
                <a:solidFill>
                  <a:srgbClr val="0F172A"/>
                </a:solidFill>
              </a:defRPr>
            </a:pPr>
            <a:r>
              <a:t>MWF_HR_AssistanceAgent</a:t>
            </a:r>
          </a:p>
          <a:p>
            <a:pPr>
              <a:defRPr sz="950" i="1">
                <a:solidFill>
                  <a:srgbClr val="64748B"/>
                </a:solidFill>
              </a:defRPr>
            </a:pPr>
            <a:r>
              <a:t>Channel Manager &amp; Logger</a:t>
            </a:r>
          </a:p>
          <a:p>
            <a:pPr>
              <a:spcAft>
                <a:spcPts val="400"/>
              </a:spcAft>
              <a:defRPr sz="950">
                <a:solidFill>
                  <a:srgbClr val="0F172A"/>
                </a:solidFill>
              </a:defRPr>
            </a:pPr>
            <a:r>
              <a:t>• Listens 24/7 on Microsoft Teams 1:1 chat</a:t>
            </a:r>
          </a:p>
          <a:p>
            <a:pPr>
              <a:spcAft>
                <a:spcPts val="400"/>
              </a:spcAft>
              <a:defRPr sz="950">
                <a:solidFill>
                  <a:srgbClr val="0F172A"/>
                </a:solidFill>
              </a:defRPr>
            </a:pPr>
            <a:r>
              <a:t>• Fetches message context via MS Graph API</a:t>
            </a:r>
          </a:p>
          <a:p>
            <a:pPr>
              <a:spcAft>
                <a:spcPts val="400"/>
              </a:spcAft>
              <a:defRPr sz="950">
                <a:solidFill>
                  <a:srgbClr val="0F172A"/>
                </a:solidFill>
              </a:defRPr>
            </a:pPr>
            <a:r>
              <a:t>• Validates user identity &amp; formats query</a:t>
            </a:r>
          </a:p>
          <a:p>
            <a:pPr>
              <a:spcAft>
                <a:spcPts val="400"/>
              </a:spcAft>
              <a:defRPr sz="950">
                <a:solidFill>
                  <a:srgbClr val="0F172A"/>
                </a:solidFill>
              </a:defRPr>
            </a:pPr>
            <a:r>
              <a:t>• Writes structured audit log to database</a:t>
            </a:r>
          </a:p>
          <a:p>
            <a:pPr>
              <a:spcAft>
                <a:spcPts val="400"/>
              </a:spcAft>
              <a:defRPr sz="950">
                <a:solidFill>
                  <a:srgbClr val="0F172A"/>
                </a:solidFill>
              </a:defRPr>
            </a:pPr>
            <a:r>
              <a:t>• Pushes Adaptive Cards with feedback buttons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19272" y="1371600"/>
            <a:ext cx="2606040" cy="4937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319272" y="1371600"/>
            <a:ext cx="2606040" cy="73152"/>
          </a:xfrm>
          <a:prstGeom prst="rect">
            <a:avLst/>
          </a:prstGeom>
          <a:solidFill>
            <a:srgbClr val="8B5CF6"/>
          </a:solidFill>
          <a:ln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456432" y="1572768"/>
            <a:ext cx="1463040" cy="256032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tIns="0" rIns="0" bIns="0"/>
          <a:lstStyle/>
          <a:p>
            <a:pPr algn="ctr">
              <a:defRPr sz="800" b="1">
                <a:solidFill>
                  <a:srgbClr val="8B5CF6"/>
                </a:solidFill>
              </a:defRPr>
            </a:pPr>
            <a:r>
              <a:t>CORE AI ($0-$4)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56432" y="1901952"/>
            <a:ext cx="23317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8B5CF6"/>
                </a:solidFill>
              </a:defRPr>
            </a:pPr>
            <a:r>
              <a:t>Step 2: Retrieval &amp; RAG</a:t>
            </a:r>
          </a:p>
          <a:p>
            <a:pPr>
              <a:defRPr sz="1200" b="1">
                <a:solidFill>
                  <a:srgbClr val="0F172A"/>
                </a:solidFill>
              </a:defRPr>
            </a:pPr>
            <a:r>
              <a:t>SWF_RAG_VectorSearch</a:t>
            </a:r>
          </a:p>
          <a:p>
            <a:pPr>
              <a:defRPr sz="950" i="1">
                <a:solidFill>
                  <a:srgbClr val="64748B"/>
                </a:solidFill>
              </a:defRPr>
            </a:pPr>
            <a:r>
              <a:t>Intelligence Core (Gemini + Vectors)</a:t>
            </a:r>
          </a:p>
          <a:p>
            <a:pPr>
              <a:spcAft>
                <a:spcPts val="400"/>
              </a:spcAft>
              <a:defRPr sz="950">
                <a:solidFill>
                  <a:srgbClr val="0F172A"/>
                </a:solidFill>
              </a:defRPr>
            </a:pPr>
            <a:r>
              <a:t>• Vectorizes query with Gemini Embeddings</a:t>
            </a:r>
          </a:p>
          <a:p>
            <a:pPr>
              <a:spcAft>
                <a:spcPts val="400"/>
              </a:spcAft>
              <a:defRPr sz="950">
                <a:solidFill>
                  <a:srgbClr val="0F172A"/>
                </a:solidFill>
              </a:defRPr>
            </a:pPr>
            <a:r>
              <a:t>• Searches scalable Vector Database (top_k=4)</a:t>
            </a:r>
          </a:p>
          <a:p>
            <a:pPr>
              <a:spcAft>
                <a:spcPts val="400"/>
              </a:spcAft>
              <a:defRPr sz="950">
                <a:solidFill>
                  <a:srgbClr val="0F172A"/>
                </a:solidFill>
              </a:defRPr>
            </a:pPr>
            <a:r>
              <a:t>• Retrieves verified HR policy passages</a:t>
            </a:r>
          </a:p>
          <a:p>
            <a:pPr>
              <a:spcAft>
                <a:spcPts val="400"/>
              </a:spcAft>
              <a:defRPr sz="950">
                <a:solidFill>
                  <a:srgbClr val="0F172A"/>
                </a:solidFill>
              </a:defRPr>
            </a:pPr>
            <a:r>
              <a:t>• Enforces 16 strict anti-hallucination rules</a:t>
            </a:r>
          </a:p>
          <a:p>
            <a:pPr>
              <a:spcAft>
                <a:spcPts val="400"/>
              </a:spcAft>
              <a:defRPr sz="950">
                <a:solidFill>
                  <a:srgbClr val="0F172A"/>
                </a:solidFill>
              </a:defRPr>
            </a:pPr>
            <a:r>
              <a:t>• Dual-check: 'Sufficient' vs 'Insufficient Data'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44184" y="1371600"/>
            <a:ext cx="2606040" cy="4937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044184" y="1371600"/>
            <a:ext cx="2606040" cy="73152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181344" y="1572768"/>
            <a:ext cx="1463040" cy="256032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tIns="0" rIns="0" bIns="0"/>
          <a:lstStyle/>
          <a:p>
            <a:pPr algn="ctr">
              <a:defRPr sz="800" b="1">
                <a:solidFill>
                  <a:srgbClr val="10B981"/>
                </a:solidFill>
              </a:defRPr>
            </a:pPr>
            <a:r>
              <a:t>PRIMARY PATH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81344" y="1901952"/>
            <a:ext cx="23317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</a:defRPr>
            </a:pPr>
            <a:r>
              <a:t>Step 3: Direct Answer</a:t>
            </a:r>
          </a:p>
          <a:p>
            <a:pPr>
              <a:defRPr sz="1200" b="1">
                <a:solidFill>
                  <a:srgbClr val="0F172A"/>
                </a:solidFill>
              </a:defRPr>
            </a:pPr>
            <a:r>
              <a:t>Instant Teams Resolution</a:t>
            </a:r>
          </a:p>
          <a:p>
            <a:pPr>
              <a:defRPr sz="950" i="1">
                <a:solidFill>
                  <a:srgbClr val="64748B"/>
                </a:solidFill>
              </a:defRPr>
            </a:pPr>
            <a:r>
              <a:t>85% Autonomous Resolution</a:t>
            </a:r>
          </a:p>
          <a:p>
            <a:pPr>
              <a:spcAft>
                <a:spcPts val="400"/>
              </a:spcAft>
              <a:defRPr sz="950">
                <a:solidFill>
                  <a:srgbClr val="0F172A"/>
                </a:solidFill>
              </a:defRPr>
            </a:pPr>
            <a:r>
              <a:t>• Delivers verified policy answer in &lt; 3 seconds</a:t>
            </a:r>
          </a:p>
          <a:p>
            <a:pPr>
              <a:spcAft>
                <a:spcPts val="400"/>
              </a:spcAft>
              <a:defRPr sz="950">
                <a:solidFill>
                  <a:srgbClr val="0F172A"/>
                </a:solidFill>
              </a:defRPr>
            </a:pPr>
            <a:r>
              <a:t>• Formatted in clean HTML with bullet points</a:t>
            </a:r>
          </a:p>
          <a:p>
            <a:pPr>
              <a:spcAft>
                <a:spcPts val="400"/>
              </a:spcAft>
              <a:defRPr sz="950">
                <a:solidFill>
                  <a:srgbClr val="0F172A"/>
                </a:solidFill>
              </a:defRPr>
            </a:pPr>
            <a:r>
              <a:t>• Appends interactive follow-up questions</a:t>
            </a:r>
          </a:p>
          <a:p>
            <a:pPr>
              <a:spcAft>
                <a:spcPts val="400"/>
              </a:spcAft>
              <a:defRPr sz="950">
                <a:solidFill>
                  <a:srgbClr val="0F172A"/>
                </a:solidFill>
              </a:defRPr>
            </a:pPr>
            <a:r>
              <a:t>• Collects employee feedback (👍 / 👎)</a:t>
            </a:r>
          </a:p>
          <a:p>
            <a:pPr>
              <a:spcAft>
                <a:spcPts val="400"/>
              </a:spcAft>
              <a:defRPr sz="950">
                <a:solidFill>
                  <a:srgbClr val="0F172A"/>
                </a:solidFill>
              </a:defRPr>
            </a:pPr>
            <a:r>
              <a:t>• Resolves inquiry with zero HR staff labor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769096" y="1371600"/>
            <a:ext cx="2606040" cy="4937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769096" y="1371600"/>
            <a:ext cx="2606040" cy="73152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906256" y="1572768"/>
            <a:ext cx="1463040" cy="256032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tIns="0" rIns="0" bIns="0"/>
          <a:lstStyle/>
          <a:p>
            <a:pPr algn="ctr">
              <a:defRPr sz="800" b="1">
                <a:solidFill>
                  <a:srgbClr val="F59E0B"/>
                </a:solidFill>
              </a:defRPr>
            </a:pPr>
            <a:r>
              <a:t>OPTIONAL MODULE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06256" y="1901952"/>
            <a:ext cx="23317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59E0B"/>
                </a:solidFill>
              </a:defRPr>
            </a:pPr>
            <a:r>
              <a:t>Step 4: Optional Escalation</a:t>
            </a:r>
          </a:p>
          <a:p>
            <a:pPr>
              <a:defRPr sz="1200" b="1">
                <a:solidFill>
                  <a:srgbClr val="0F172A"/>
                </a:solidFill>
              </a:defRPr>
            </a:pPr>
            <a:r>
              <a:t>SWF_RAG_NotifyCustomer</a:t>
            </a:r>
          </a:p>
          <a:p>
            <a:pPr>
              <a:defRPr sz="950" i="1">
                <a:solidFill>
                  <a:srgbClr val="64748B"/>
                </a:solidFill>
              </a:defRPr>
            </a:pPr>
            <a:r>
              <a:t>Smart Ticket / Human Fallback</a:t>
            </a:r>
          </a:p>
          <a:p>
            <a:pPr>
              <a:spcAft>
                <a:spcPts val="400"/>
              </a:spcAft>
              <a:defRPr sz="950">
                <a:solidFill>
                  <a:srgbClr val="0F172A"/>
                </a:solidFill>
              </a:defRPr>
            </a:pPr>
            <a:r>
              <a:t>• Triggered ONLY on Insufficient Data or User Click</a:t>
            </a:r>
          </a:p>
          <a:p>
            <a:pPr>
              <a:spcAft>
                <a:spcPts val="400"/>
              </a:spcAft>
              <a:defRPr sz="950">
                <a:solidFill>
                  <a:srgbClr val="0F172A"/>
                </a:solidFill>
              </a:defRPr>
            </a:pPr>
            <a:r>
              <a:t>• AI Agent auto-generates title &amp; summary</a:t>
            </a:r>
          </a:p>
          <a:p>
            <a:pPr>
              <a:spcAft>
                <a:spcPts val="400"/>
              </a:spcAft>
              <a:defRPr sz="950">
                <a:solidFill>
                  <a:srgbClr val="0F172A"/>
                </a:solidFill>
              </a:defRPr>
            </a:pPr>
            <a:r>
              <a:t>• Captures chat screenshots/images via Graph API</a:t>
            </a:r>
          </a:p>
          <a:p>
            <a:pPr>
              <a:spcAft>
                <a:spcPts val="400"/>
              </a:spcAft>
              <a:defRPr sz="950">
                <a:solidFill>
                  <a:srgbClr val="0F172A"/>
                </a:solidFill>
              </a:defRPr>
            </a:pPr>
            <a:r>
              <a:t>• Creates ticket in Jira / ServiceNow (or MS Teams)</a:t>
            </a:r>
          </a:p>
          <a:p>
            <a:pPr>
              <a:spcAft>
                <a:spcPts val="400"/>
              </a:spcAft>
              <a:defRPr sz="950">
                <a:solidFill>
                  <a:srgbClr val="0F172A"/>
                </a:solidFill>
              </a:defRPr>
            </a:pPr>
            <a:r>
              <a:t>• Deep-link sent to employee &amp; logged in Audit DB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47472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2563EB"/>
                </a:solidFill>
              </a:defRPr>
            </a:pPr>
            <a:r>
              <a:t>TGH AI INITIATIVE • EXECUTIVE STRATEGY &amp;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0F172A"/>
                </a:solidFill>
              </a:defRPr>
            </a:pPr>
            <a:r>
              <a:t>Budget Reality: Sunk Corporate Assets vs. Net-New Spend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212080" cy="4937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371600"/>
            <a:ext cx="5212080" cy="9144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600200"/>
            <a:ext cx="47548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0B981"/>
                </a:solidFill>
              </a:defRPr>
            </a:pPr>
            <a:r>
              <a:t>EXISTING ASSETS LEVERAGED ($0 NET NEW)</a:t>
            </a:r>
          </a:p>
          <a:p>
            <a:pPr>
              <a:spcBef>
                <a:spcPts val="800"/>
              </a:spcBef>
              <a:defRPr sz="1100" b="1">
                <a:solidFill>
                  <a:srgbClr val="0F172A"/>
                </a:solidFill>
              </a:defRPr>
            </a:pPr>
            <a:r>
              <a:t>Hostinger Cloud VPS — $0.00 Net New</a:t>
            </a:r>
          </a:p>
          <a:p>
            <a:pPr>
              <a:defRPr sz="950">
                <a:solidFill>
                  <a:srgbClr val="64748B"/>
                </a:solidFill>
              </a:defRPr>
            </a:pPr>
            <a:r>
              <a:t>TGH already owns and funds the Hostinger VPS (n8n.srv1901759.hstgr.cloud). Compute and memory are already running.</a:t>
            </a:r>
          </a:p>
          <a:p>
            <a:pPr>
              <a:spcBef>
                <a:spcPts val="800"/>
              </a:spcBef>
              <a:defRPr sz="1100" b="1">
                <a:solidFill>
                  <a:srgbClr val="0F172A"/>
                </a:solidFill>
              </a:defRPr>
            </a:pPr>
            <a:r>
              <a:t>Microsoft Teams &amp; M365 — $0.00 Net New</a:t>
            </a:r>
          </a:p>
          <a:p>
            <a:pPr>
              <a:defRPr sz="950">
                <a:solidFill>
                  <a:srgbClr val="64748B"/>
                </a:solidFill>
              </a:defRPr>
            </a:pPr>
            <a:r>
              <a:t>Employees interact through corporate MS Teams. Uses existing Microsoft Graph API credentials with no add-on license fees.</a:t>
            </a:r>
          </a:p>
          <a:p>
            <a:pPr>
              <a:spcBef>
                <a:spcPts val="800"/>
              </a:spcBef>
              <a:defRPr sz="1100" b="1">
                <a:solidFill>
                  <a:srgbClr val="0F172A"/>
                </a:solidFill>
              </a:defRPr>
            </a:pPr>
            <a:r>
              <a:t>n8n Orchestration Core — $0.00 Net New</a:t>
            </a:r>
          </a:p>
          <a:p>
            <a:pPr>
              <a:defRPr sz="950">
                <a:solidFill>
                  <a:srgbClr val="64748B"/>
                </a:solidFill>
              </a:defRPr>
            </a:pPr>
            <a:r>
              <a:t>Self-hosted Community Edition gives unlimited workflow executions, triggers, and branches without SaaS per-execution charges.</a:t>
            </a:r>
          </a:p>
          <a:p>
            <a:pPr>
              <a:spcBef>
                <a:spcPts val="800"/>
              </a:spcBef>
              <a:defRPr sz="1100" b="1">
                <a:solidFill>
                  <a:srgbClr val="0F172A"/>
                </a:solidFill>
              </a:defRPr>
            </a:pPr>
            <a:r>
              <a:t>Hostinger DB Capability — $0.00 Net New</a:t>
            </a:r>
          </a:p>
          <a:p>
            <a:pPr>
              <a:defRPr sz="950">
                <a:solidFill>
                  <a:srgbClr val="64748B"/>
                </a:solidFill>
              </a:defRPr>
            </a:pPr>
            <a:r>
              <a:t>Existing VPS has ample SSD space to run PostgreSQL + pgvector for production vector and audit data at zero extra hosting cost.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371600"/>
            <a:ext cx="5212080" cy="4937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0" y="1371600"/>
            <a:ext cx="5212080" cy="9144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1600200"/>
            <a:ext cx="47548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563EB"/>
                </a:solidFill>
              </a:defRPr>
            </a:pPr>
            <a:r>
              <a:t>INCREMENTAL RUNTIME SPEND (ACTUAL OUT-OF-POCKET)</a:t>
            </a:r>
          </a:p>
          <a:p>
            <a:pPr>
              <a:spcBef>
                <a:spcPts val="800"/>
              </a:spcBef>
              <a:defRPr sz="1100" b="1">
                <a:solidFill>
                  <a:srgbClr val="0F172A"/>
                </a:solidFill>
              </a:defRPr>
            </a:pPr>
            <a:r>
              <a:t>Google Gemini Flash LLM: ~$0.65 to $3.25 / month</a:t>
            </a:r>
          </a:p>
          <a:p>
            <a:pPr>
              <a:defRPr sz="950">
                <a:solidFill>
                  <a:srgbClr val="64748B"/>
                </a:solidFill>
              </a:defRPr>
            </a:pPr>
            <a:r>
              <a:t>Ultra-efficient token consumption (~3,450 input / 350 output). 5,000 monthly employee queries = ~$3.25 total LLM spend.</a:t>
            </a:r>
          </a:p>
          <a:p>
            <a:pPr>
              <a:spcBef>
                <a:spcPts val="800"/>
              </a:spcBef>
              <a:defRPr sz="1100" b="1">
                <a:solidFill>
                  <a:srgbClr val="0F172A"/>
                </a:solidFill>
              </a:defRPr>
            </a:pPr>
            <a:r>
              <a:t>Google Gemini Embeddings: ~$0.02 / month</a:t>
            </a:r>
          </a:p>
          <a:p>
            <a:pPr>
              <a:defRPr sz="950">
                <a:solidFill>
                  <a:srgbClr val="64748B"/>
                </a:solidFill>
              </a:defRPr>
            </a:pPr>
            <a:r>
              <a:t>Generates high-dimensional semantic vectors for employee search queries at micro-cent pricing.</a:t>
            </a:r>
          </a:p>
          <a:p>
            <a:pPr>
              <a:spcBef>
                <a:spcPts val="800"/>
              </a:spcBef>
              <a:defRPr sz="1100" b="1">
                <a:solidFill>
                  <a:srgbClr val="0F172A"/>
                </a:solidFill>
              </a:defRPr>
            </a:pPr>
            <a:r>
              <a:t>Vector DB (Pinecone / PgVector): $0.00 to $3.30 / month</a:t>
            </a:r>
          </a:p>
          <a:p>
            <a:pPr>
              <a:defRPr sz="950">
                <a:solidFill>
                  <a:srgbClr val="64748B"/>
                </a:solidFill>
              </a:defRPr>
            </a:pPr>
            <a:r>
              <a:t>Scales elastically across gigabytes ($0.33/GB on Pinecone Serverless, or $0 on Hostinger PostgreSQL).</a:t>
            </a:r>
          </a:p>
          <a:p>
            <a:pPr>
              <a:spcBef>
                <a:spcPts val="800"/>
              </a:spcBef>
              <a:defRPr sz="1150" b="1">
                <a:solidFill>
                  <a:srgbClr val="10B981"/>
                </a:solidFill>
              </a:defRPr>
            </a:pPr>
            <a:r>
              <a:t>NET INCREMENTAL CORE BUDGET: &lt; $5.00 - $8.00 / MONTH</a:t>
            </a:r>
          </a:p>
          <a:p>
            <a:pPr>
              <a:defRPr sz="950">
                <a:solidFill>
                  <a:srgbClr val="0F172A"/>
                </a:solidFill>
              </a:defRPr>
            </a:pPr>
            <a:r>
              <a:t>Entire core AI agent operates for under $8/month, or ~$90/year in total new company cash outlay!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47472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2563EB"/>
                </a:solidFill>
              </a:defRPr>
            </a:pPr>
            <a:r>
              <a:t>TGH AI INITIATIVE • EXECUTIVE STRATEGY &amp;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0F172A"/>
                </a:solidFill>
              </a:defRPr>
            </a:pPr>
            <a:r>
              <a:t>Official LLM Provider Pricing &amp; Token Economics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347472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64748B"/>
                </a:solidFill>
              </a:defRPr>
            </a:pPr>
            <a:r>
              <a:t>OFFICIAL GEMINI FLASH RATE</a:t>
            </a:r>
          </a:p>
          <a:p>
            <a:pPr>
              <a:spcBef>
                <a:spcPts val="200"/>
              </a:spcBef>
              <a:defRPr sz="2100" b="1">
                <a:solidFill>
                  <a:srgbClr val="2563EB"/>
                </a:solidFill>
              </a:defRPr>
            </a:pPr>
            <a:r>
              <a:t>$0.075 / 1M Input</a:t>
            </a:r>
          </a:p>
          <a:p>
            <a:pPr>
              <a:defRPr sz="850">
                <a:solidFill>
                  <a:srgbClr val="64748B"/>
                </a:solidFill>
              </a:defRPr>
            </a:pPr>
            <a:r>
              <a:t>Published Google Cloud API rate ($0.30 out)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371600"/>
            <a:ext cx="3474720" cy="54864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343400" y="1371600"/>
            <a:ext cx="347472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64748B"/>
                </a:solidFill>
              </a:defRPr>
            </a:pPr>
            <a:r>
              <a:t>WHAT $3.50 ACTUALLY BUYS</a:t>
            </a:r>
          </a:p>
          <a:p>
            <a:pPr>
              <a:spcBef>
                <a:spcPts val="200"/>
              </a:spcBef>
              <a:defRPr sz="2100" b="1">
                <a:solidFill>
                  <a:srgbClr val="10B981"/>
                </a:solidFill>
              </a:defRPr>
            </a:pPr>
            <a:r>
              <a:t>9,500 Messages</a:t>
            </a:r>
          </a:p>
          <a:p>
            <a:pPr>
              <a:defRPr sz="850">
                <a:solidFill>
                  <a:srgbClr val="64748B"/>
                </a:solidFill>
              </a:defRPr>
            </a:pPr>
            <a:r>
              <a:t>Under pure Gemini Flash RAG compute</a:t>
            </a:r>
          </a:p>
        </p:txBody>
      </p:sp>
      <p:sp>
        <p:nvSpPr>
          <p:cNvPr id="8" name="Rectangle 7"/>
          <p:cNvSpPr/>
          <p:nvPr/>
        </p:nvSpPr>
        <p:spPr>
          <a:xfrm>
            <a:off x="4343400" y="1371600"/>
            <a:ext cx="3474720" cy="54864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955280" y="1371600"/>
            <a:ext cx="347472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64748B"/>
                </a:solidFill>
              </a:defRPr>
            </a:pPr>
            <a:r>
              <a:t>AUDITED WORKFLOW CONTEXT</a:t>
            </a:r>
          </a:p>
          <a:p>
            <a:pPr>
              <a:spcBef>
                <a:spcPts val="200"/>
              </a:spcBef>
              <a:defRPr sz="2100" b="1">
                <a:solidFill>
                  <a:srgbClr val="8B5CF6"/>
                </a:solidFill>
              </a:defRPr>
            </a:pPr>
            <a:r>
              <a:t>3,500 In / 350 Out</a:t>
            </a:r>
          </a:p>
          <a:p>
            <a:pPr>
              <a:defRPr sz="850">
                <a:solidFill>
                  <a:srgbClr val="64748B"/>
                </a:solidFill>
              </a:defRPr>
            </a:pPr>
            <a:r>
              <a:t>Measured from live n8n prompt (11.4k chars)</a:t>
            </a:r>
          </a:p>
        </p:txBody>
      </p:sp>
      <p:sp>
        <p:nvSpPr>
          <p:cNvPr id="10" name="Rectangle 9"/>
          <p:cNvSpPr/>
          <p:nvPr/>
        </p:nvSpPr>
        <p:spPr>
          <a:xfrm>
            <a:off x="7955280" y="1371600"/>
            <a:ext cx="3474720" cy="54864"/>
          </a:xfrm>
          <a:prstGeom prst="rect">
            <a:avLst/>
          </a:prstGeom>
          <a:solidFill>
            <a:srgbClr val="8B5CF6"/>
          </a:solidFill>
          <a:ln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31520" y="2697480"/>
            <a:ext cx="4114800" cy="3611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2788920"/>
            <a:ext cx="3840480" cy="342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LIVE WORKFLOW TOKEN BREAKDOWN</a:t>
            </a:r>
          </a:p>
          <a:p>
            <a:pPr>
              <a:spcBef>
                <a:spcPts val="300"/>
              </a:spcBef>
              <a:defRPr sz="900" b="0">
                <a:solidFill>
                  <a:srgbClr val="0F172A"/>
                </a:solidFill>
              </a:defRPr>
            </a:pPr>
            <a:r>
              <a:t>• System Prompt (16 HR Rules): 11,431 chars = ~2,307 tokens</a:t>
            </a:r>
          </a:p>
          <a:p>
            <a:pPr>
              <a:spcBef>
                <a:spcPts val="300"/>
              </a:spcBef>
              <a:defRPr sz="900" b="0">
                <a:solidFill>
                  <a:srgbClr val="0F172A"/>
                </a:solidFill>
              </a:defRPr>
            </a:pPr>
            <a:r>
              <a:t>• Retrieved Context (topK=4): ~4,000 chars = ~1,000 tokens</a:t>
            </a:r>
          </a:p>
          <a:p>
            <a:pPr>
              <a:spcBef>
                <a:spcPts val="300"/>
              </a:spcBef>
              <a:defRPr sz="900" b="0">
                <a:solidFill>
                  <a:srgbClr val="0F172A"/>
                </a:solidFill>
              </a:defRPr>
            </a:pPr>
            <a:r>
              <a:t>• User Query &amp; Conversation: ~200 chars = ~50 tokens</a:t>
            </a:r>
          </a:p>
          <a:p>
            <a:pPr>
              <a:spcBef>
                <a:spcPts val="300"/>
              </a:spcBef>
              <a:defRPr sz="900" b="0">
                <a:solidFill>
                  <a:srgbClr val="0F172A"/>
                </a:solidFill>
              </a:defRPr>
            </a:pPr>
            <a:r>
              <a:t>• Tool Definitions &amp; Wrappers: ~600 chars = ~150 tokens</a:t>
            </a:r>
          </a:p>
          <a:p>
            <a:pPr>
              <a:spcBef>
                <a:spcPts val="300"/>
              </a:spcBef>
              <a:defRPr sz="950" b="1">
                <a:solidFill>
                  <a:srgbClr val="10B981"/>
                </a:solidFill>
              </a:defRPr>
            </a:pPr>
            <a:r>
              <a:t>✔ TOTAL INPUT BILLED / MSG: ~3,500 Tokens</a:t>
            </a:r>
          </a:p>
          <a:p>
            <a:pPr>
              <a:spcBef>
                <a:spcPts val="300"/>
              </a:spcBef>
              <a:defRPr sz="950" b="1">
                <a:solidFill>
                  <a:srgbClr val="0B132B"/>
                </a:solidFill>
              </a:defRPr>
            </a:pPr>
            <a:r>
              <a:t>✔ GENERATED OUTPUT / MSG: ~350 Tokens</a:t>
            </a:r>
          </a:p>
          <a:p>
            <a:pPr>
              <a:spcBef>
                <a:spcPts val="600"/>
              </a:spcBef>
              <a:defRPr sz="850" b="1">
                <a:solidFill>
                  <a:srgbClr val="2563EB"/>
                </a:solidFill>
              </a:defRPr>
            </a:pPr>
            <a:r>
              <a:t>Cost per Message = (3,500 × $0.075/1M) + (350 × $0.30/1M)</a:t>
            </a:r>
            <a:br/>
            <a:r>
              <a:t>= $0.000262 + $0.000105 = $0.000368 (&lt; 0.04 cents!)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983480" y="2697480"/>
            <a:ext cx="6446520" cy="3611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120640" y="2788920"/>
            <a:ext cx="6172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B132B"/>
                </a:solidFill>
              </a:defRPr>
            </a:pPr>
            <a:r>
              <a:t>OFFICIAL PROVIDER PRICE COMPARISON &amp; MESSAGE CAPACITY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5074920" y="3200400"/>
          <a:ext cx="626364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1640"/>
                <a:gridCol w="868680"/>
                <a:gridCol w="868680"/>
                <a:gridCol w="914400"/>
                <a:gridCol w="914400"/>
                <a:gridCol w="1005840"/>
              </a:tblGrid>
              <a:tr h="396240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8FAFC"/>
                          </a:solidFill>
                        </a:defRPr>
                      </a:pPr>
                      <a:r>
                        <a:t>Provider &amp; Model</a:t>
                      </a:r>
                    </a:p>
                  </a:txBody>
                  <a:tcPr anchor="ctr">
                    <a:solidFill>
                      <a:srgbClr val="0B13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8FAFC"/>
                          </a:solidFill>
                        </a:defRPr>
                      </a:pPr>
                      <a:r>
                        <a:t>In / 1M</a:t>
                      </a:r>
                    </a:p>
                  </a:txBody>
                  <a:tcPr anchor="ctr">
                    <a:solidFill>
                      <a:srgbClr val="0B13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8FAFC"/>
                          </a:solidFill>
                        </a:defRPr>
                      </a:pPr>
                      <a:r>
                        <a:t>Out / 1M</a:t>
                      </a:r>
                    </a:p>
                  </a:txBody>
                  <a:tcPr anchor="ctr">
                    <a:solidFill>
                      <a:srgbClr val="0B13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8FAFC"/>
                          </a:solidFill>
                        </a:defRPr>
                      </a:pPr>
                      <a:r>
                        <a:t>1k Msgs</a:t>
                      </a:r>
                    </a:p>
                  </a:txBody>
                  <a:tcPr anchor="ctr">
                    <a:solidFill>
                      <a:srgbClr val="0B13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8FAFC"/>
                          </a:solidFill>
                        </a:defRPr>
                      </a:pPr>
                      <a:r>
                        <a:t>5k Msgs</a:t>
                      </a:r>
                    </a:p>
                  </a:txBody>
                  <a:tcPr anchor="ctr">
                    <a:solidFill>
                      <a:srgbClr val="0B13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8FAFC"/>
                          </a:solidFill>
                        </a:defRPr>
                      </a:pPr>
                      <a:r>
                        <a:t>Msgs for $3.50</a:t>
                      </a:r>
                    </a:p>
                  </a:txBody>
                  <a:tcPr anchor="ctr">
                    <a:solidFill>
                      <a:srgbClr val="0B132B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2563EB"/>
                          </a:solidFill>
                        </a:defRPr>
                      </a:pPr>
                      <a:r>
                        <a:t>Google Gemini Flash (Active)</a:t>
                      </a:r>
                    </a:p>
                  </a:txBody>
                  <a:tcPr anchor="ctr"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0F172A"/>
                          </a:solidFill>
                        </a:defRPr>
                      </a:pPr>
                      <a:r>
                        <a:t>$0.075</a:t>
                      </a:r>
                    </a:p>
                  </a:txBody>
                  <a:tcPr anchor="ctr"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0F172A"/>
                          </a:solidFill>
                        </a:defRPr>
                      </a:pPr>
                      <a:r>
                        <a:t>$0.30</a:t>
                      </a:r>
                    </a:p>
                  </a:txBody>
                  <a:tcPr anchor="ctr"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0F172A"/>
                          </a:solidFill>
                        </a:defRPr>
                      </a:pPr>
                      <a:r>
                        <a:t>$0.37</a:t>
                      </a:r>
                    </a:p>
                  </a:txBody>
                  <a:tcPr anchor="ctr"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0F172A"/>
                          </a:solidFill>
                        </a:defRPr>
                      </a:pPr>
                      <a:r>
                        <a:t>$1.84</a:t>
                      </a:r>
                    </a:p>
                  </a:txBody>
                  <a:tcPr anchor="ctr"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0F172A"/>
                          </a:solidFill>
                        </a:defRPr>
                      </a:pPr>
                      <a:r>
                        <a:t>9,508 msgs</a:t>
                      </a:r>
                    </a:p>
                  </a:txBody>
                  <a:tcPr anchor="ctr">
                    <a:solidFill>
                      <a:srgbClr val="EEF2FF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0F172A"/>
                          </a:solidFill>
                        </a:defRPr>
                      </a:pPr>
                      <a:r>
                        <a:t>Mistral Small (Active Fallback)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0F172A"/>
                          </a:solidFill>
                        </a:defRPr>
                      </a:pPr>
                      <a:r>
                        <a:t>$0.200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0F172A"/>
                          </a:solidFill>
                        </a:defRPr>
                      </a:pPr>
                      <a:r>
                        <a:t>$0.60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0F172A"/>
                          </a:solidFill>
                        </a:defRPr>
                      </a:pPr>
                      <a:r>
                        <a:t>$0.91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0F172A"/>
                          </a:solidFill>
                        </a:defRPr>
                      </a:pPr>
                      <a:r>
                        <a:t>$4.55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0F172A"/>
                          </a:solidFill>
                        </a:defRPr>
                      </a:pPr>
                      <a:r>
                        <a:t>3,843 msgs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0F172A"/>
                          </a:solidFill>
                        </a:defRPr>
                      </a:pPr>
                      <a:r>
                        <a:t>OpenAI GPT-4o mini (Benchmark)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0F172A"/>
                          </a:solidFill>
                        </a:defRPr>
                      </a:pPr>
                      <a:r>
                        <a:t>$0.150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0F172A"/>
                          </a:solidFill>
                        </a:defRPr>
                      </a:pPr>
                      <a:r>
                        <a:t>$0.60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0F172A"/>
                          </a:solidFill>
                        </a:defRPr>
                      </a:pPr>
                      <a:r>
                        <a:t>$0.74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0F172A"/>
                          </a:solidFill>
                        </a:defRPr>
                      </a:pPr>
                      <a:r>
                        <a:t>$3.68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0F172A"/>
                          </a:solidFill>
                        </a:defRPr>
                      </a:pPr>
                      <a:r>
                        <a:t>4,758 msgs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0F172A"/>
                          </a:solidFill>
                        </a:defRPr>
                      </a:pPr>
                      <a:r>
                        <a:t>Google Gemini 1.5 Pro (Heavy)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0F172A"/>
                          </a:solidFill>
                        </a:defRPr>
                      </a:pPr>
                      <a:r>
                        <a:t>$1.250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0F172A"/>
                          </a:solidFill>
                        </a:defRPr>
                      </a:pPr>
                      <a:r>
                        <a:t>$5.00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0F172A"/>
                          </a:solidFill>
                        </a:defRPr>
                      </a:pPr>
                      <a:r>
                        <a:t>$6.13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0F172A"/>
                          </a:solidFill>
                        </a:defRPr>
                      </a:pPr>
                      <a:r>
                        <a:t>$30.63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0F172A"/>
                          </a:solidFill>
                        </a:defRPr>
                      </a:pPr>
                      <a:r>
                        <a:t>571 msgs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0F172A"/>
                          </a:solidFill>
                        </a:defRPr>
                      </a:pPr>
                      <a:r>
                        <a:t>OpenAI GPT-4o (Frontier Model)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0F172A"/>
                          </a:solidFill>
                        </a:defRPr>
                      </a:pPr>
                      <a:r>
                        <a:t>$2.500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0F172A"/>
                          </a:solidFill>
                        </a:defRPr>
                      </a:pPr>
                      <a:r>
                        <a:t>$10.00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0F172A"/>
                          </a:solidFill>
                        </a:defRPr>
                      </a:pPr>
                      <a:r>
                        <a:t>$12.25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0F172A"/>
                          </a:solidFill>
                        </a:defRPr>
                      </a:pPr>
                      <a:r>
                        <a:t>$61.25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0F172A"/>
                          </a:solidFill>
                        </a:defRPr>
                      </a:pPr>
                      <a:r>
                        <a:t>285 msgs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5120640" y="5623560"/>
            <a:ext cx="6172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i="1">
                <a:solidFill>
                  <a:srgbClr val="64748B"/>
                </a:solidFill>
              </a:defRPr>
            </a:pPr>
            <a:r>
              <a:t>Executive Takeaway: The $3.50 budget in leadership summaries is a conservative blended ceiling (covers 5,000 queries with Mistral fallback retries, ticket summarization, and buffer). Pure Gemini Flash compute for 5,000 messages is only $1.84/month!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47472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2563EB"/>
                </a:solidFill>
              </a:defRPr>
            </a:pPr>
            <a:r>
              <a:t>TGH AI INITIATIVE • EXECUTIVE STRATEGY &amp;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0F172A"/>
                </a:solidFill>
              </a:defRPr>
            </a:pPr>
            <a:r>
              <a:t>Real-Time Scale: Solving the 50MB Knowledge &amp; Data Table Bottleneck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212080" cy="4937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371600"/>
            <a:ext cx="5212080" cy="91440"/>
          </a:xfrm>
          <a:prstGeom prst="rect">
            <a:avLst/>
          </a:prstGeom>
          <a:solidFill>
            <a:srgbClr val="EF4444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600200"/>
            <a:ext cx="47548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EF4444"/>
                </a:solidFill>
              </a:defRPr>
            </a:pPr>
            <a:r>
              <a:t>THE BOTTLENECK: WHY A 50MB ASSUMPTION FAILS IN REAL TIME</a:t>
            </a:r>
          </a:p>
          <a:p>
            <a:pPr>
              <a:spcBef>
                <a:spcPts val="800"/>
              </a:spcBef>
              <a:defRPr sz="1100" b="1">
                <a:solidFill>
                  <a:srgbClr val="0F172A"/>
                </a:solidFill>
              </a:defRPr>
            </a:pPr>
            <a:r>
              <a:t>⚠️ Knowledge Expands Rapidly</a:t>
            </a:r>
          </a:p>
          <a:p>
            <a:pPr>
              <a:defRPr sz="950">
                <a:solidFill>
                  <a:srgbClr val="64748B"/>
                </a:solidFill>
              </a:defRPr>
            </a:pPr>
            <a:r>
              <a:t>Real enterprise documentation is not 50MB. Comprehensive handbooks, SOPs, past Jira tickets, benefits brochures, and PDFs easily span 1 GB to 10 GB+ over time.</a:t>
            </a:r>
          </a:p>
          <a:p>
            <a:pPr>
              <a:spcBef>
                <a:spcPts val="800"/>
              </a:spcBef>
              <a:defRPr sz="1100" b="1">
                <a:solidFill>
                  <a:srgbClr val="0F172A"/>
                </a:solidFill>
              </a:defRPr>
            </a:pPr>
            <a:r>
              <a:t>⚠️ n8n Native Data Table Limits</a:t>
            </a:r>
          </a:p>
          <a:p>
            <a:pPr>
              <a:defRPr sz="950">
                <a:solidFill>
                  <a:srgbClr val="64748B"/>
                </a:solidFill>
              </a:defRPr>
            </a:pPr>
            <a:r>
              <a:t>n8n's internal Data Table ('HR_AGENT_AUDIT_LOG') is designed for lightweight lookups (&lt;10k rows). Storing full conversational payloads causes database lockups &amp; bloats the n8n application.</a:t>
            </a:r>
          </a:p>
          <a:p>
            <a:pPr>
              <a:spcBef>
                <a:spcPts val="800"/>
              </a:spcBef>
              <a:defRPr sz="1100" b="1">
                <a:solidFill>
                  <a:srgbClr val="0F172A"/>
                </a:solidFill>
              </a:defRPr>
            </a:pPr>
            <a:r>
              <a:t>⚠️ No Analytics / BI Access</a:t>
            </a:r>
          </a:p>
          <a:p>
            <a:pPr>
              <a:defRPr sz="950">
                <a:solidFill>
                  <a:srgbClr val="64748B"/>
                </a:solidFill>
              </a:defRPr>
            </a:pPr>
            <a:r>
              <a:t>Internal n8n tables cannot be connected to Power BI, Metabase, or Tableau for executive analytics without custom coding.</a:t>
            </a:r>
          </a:p>
          <a:p>
            <a:pPr>
              <a:spcBef>
                <a:spcPts val="800"/>
              </a:spcBef>
              <a:defRPr sz="1100" b="1">
                <a:solidFill>
                  <a:srgbClr val="0F172A"/>
                </a:solidFill>
              </a:defRPr>
            </a:pPr>
            <a:r>
              <a:t>⚠️ Single Point of Failure</a:t>
            </a:r>
          </a:p>
          <a:p>
            <a:pPr>
              <a:defRPr sz="950">
                <a:solidFill>
                  <a:srgbClr val="64748B"/>
                </a:solidFill>
              </a:defRPr>
            </a:pPr>
            <a:r>
              <a:t>Tying compliance audit logs to the n8n workflow engine creates operational risk if the workflow server ever requires restarts.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371600"/>
            <a:ext cx="5212080" cy="4937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0" y="1371600"/>
            <a:ext cx="5212080" cy="9144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1600200"/>
            <a:ext cx="47548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0B981"/>
                </a:solidFill>
              </a:defRPr>
            </a:pPr>
            <a:r>
              <a:t>THE ENTERPRISE SOLUTION: DECOUPLED DATABASE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0F172A"/>
                </a:solidFill>
              </a:defRPr>
            </a:pPr>
            <a:r>
              <a:t>✔ Production Vector Store (Pinecone / PgVector)</a:t>
            </a:r>
          </a:p>
          <a:p>
            <a:pPr>
              <a:defRPr sz="950">
                <a:solidFill>
                  <a:srgbClr val="64748B"/>
                </a:solidFill>
              </a:defRPr>
            </a:pPr>
            <a:r>
              <a:t>Pinecone Serverless scales seamlessly to 100+ GB ($0.33/GB = ~$3/mo for 10 GB). Alternatively, PostgreSQL + pgvector on our Hostinger VPS gives UNLIMITED vector storage for $0.00!</a:t>
            </a:r>
          </a:p>
          <a:p>
            <a:pPr>
              <a:spcBef>
                <a:spcPts val="800"/>
              </a:spcBef>
              <a:defRPr sz="1100" b="1">
                <a:solidFill>
                  <a:srgbClr val="0F172A"/>
                </a:solidFill>
              </a:defRPr>
            </a:pPr>
            <a:r>
              <a:t>✔ Decoupled PostgreSQL on Hostinger ($0 Net New)</a:t>
            </a:r>
          </a:p>
          <a:p>
            <a:pPr>
              <a:defRPr sz="950">
                <a:solidFill>
                  <a:srgbClr val="64748B"/>
                </a:solidFill>
              </a:defRPr>
            </a:pPr>
            <a:r>
              <a:t>Deploy a dedicated PostgreSQL database container on our existing Hostinger VPS. Handles millions of audit records, full-text queries, and automated partitioning at zero added cost.</a:t>
            </a:r>
          </a:p>
          <a:p>
            <a:pPr>
              <a:spcBef>
                <a:spcPts val="800"/>
              </a:spcBef>
              <a:defRPr sz="1100" b="1">
                <a:solidFill>
                  <a:srgbClr val="0F172A"/>
                </a:solidFill>
              </a:defRPr>
            </a:pPr>
            <a:r>
              <a:t>✔ Direct BI &amp; Analytics Integration</a:t>
            </a:r>
          </a:p>
          <a:p>
            <a:pPr>
              <a:defRPr sz="950">
                <a:solidFill>
                  <a:srgbClr val="64748B"/>
                </a:solidFill>
              </a:defRPr>
            </a:pPr>
            <a:r>
              <a:t>Power BI and Metabase connect directly to PostgreSQL. HR leaders get real-time dashboards on policy search trends, sentiment, and escalation rates.</a:t>
            </a:r>
          </a:p>
          <a:p>
            <a:pPr>
              <a:spcBef>
                <a:spcPts val="800"/>
              </a:spcBef>
              <a:defRPr sz="1100" b="1">
                <a:solidFill>
                  <a:srgbClr val="0F172A"/>
                </a:solidFill>
              </a:defRPr>
            </a:pPr>
            <a:r>
              <a:t>✔ Automated S3 Compliance Archival</a:t>
            </a:r>
          </a:p>
          <a:p>
            <a:pPr>
              <a:defRPr sz="950">
                <a:solidFill>
                  <a:srgbClr val="64748B"/>
                </a:solidFill>
              </a:defRPr>
            </a:pPr>
            <a:r>
              <a:t>Hot logs retained 90 days in PostgreSQL; older logs auto-archived to AWS S3 / Cloudflare R2 at $0.015/GB for 7-year corporate compliance.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47472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2563EB"/>
                </a:solidFill>
              </a:defRPr>
            </a:pPr>
            <a:r>
              <a:t>TGH AI INITIATIVE • EXECUTIVE STRATEGY &amp;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0F172A"/>
                </a:solidFill>
              </a:defRPr>
            </a:pPr>
            <a:r>
              <a:t>Helpdesk &amp; Escalation: Native ($0) vs. Optional ITSM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3474720" cy="49377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371600"/>
            <a:ext cx="3474720" cy="9144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14400" y="1600200"/>
            <a:ext cx="2011680" cy="256032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tIns="0" rIns="0" bIns="0"/>
          <a:lstStyle/>
          <a:p>
            <a:pPr algn="ctr">
              <a:defRPr sz="850" b="1">
                <a:solidFill>
                  <a:srgbClr val="10B981"/>
                </a:solidFill>
              </a:defRPr>
            </a:pPr>
            <a:r>
              <a:t>OPTION A: RECOMMENDED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920240"/>
            <a:ext cx="31089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172A"/>
                </a:solidFill>
              </a:defRPr>
            </a:pPr>
            <a:r>
              <a:t>Native MS Teams &amp; Postgres Log</a:t>
            </a:r>
          </a:p>
          <a:p>
            <a:pPr>
              <a:spcBef>
                <a:spcPts val="300"/>
              </a:spcBef>
              <a:defRPr sz="1900" b="1">
                <a:solidFill>
                  <a:srgbClr val="10B981"/>
                </a:solidFill>
              </a:defRPr>
            </a:pPr>
            <a:r>
              <a:t>$0.00 / month</a:t>
            </a:r>
          </a:p>
          <a:p>
            <a:pPr>
              <a:spcBef>
                <a:spcPts val="600"/>
              </a:spcBef>
              <a:defRPr sz="1050" b="1">
                <a:solidFill>
                  <a:srgbClr val="0F172A"/>
                </a:solidFill>
              </a:defRPr>
            </a:pPr>
            <a:r>
              <a:t>• No Jira / ServiceNow needed</a:t>
            </a:r>
          </a:p>
          <a:p>
            <a:pPr>
              <a:defRPr sz="950">
                <a:solidFill>
                  <a:srgbClr val="64748B"/>
                </a:solidFill>
              </a:defRPr>
            </a:pPr>
            <a:r>
              <a:t>Escalations routed to dedicated HR Teams Channel via webhook.</a:t>
            </a:r>
          </a:p>
          <a:p>
            <a:pPr>
              <a:spcBef>
                <a:spcPts val="600"/>
              </a:spcBef>
              <a:defRPr sz="1050" b="1">
                <a:solidFill>
                  <a:srgbClr val="0F172A"/>
                </a:solidFill>
              </a:defRPr>
            </a:pPr>
            <a:r>
              <a:t>• Enterprise Audit Trail</a:t>
            </a:r>
          </a:p>
          <a:p>
            <a:pPr>
              <a:defRPr sz="950">
                <a:solidFill>
                  <a:srgbClr val="64748B"/>
                </a:solidFill>
              </a:defRPr>
            </a:pPr>
            <a:r>
              <a:t>All unresolved questions logged into PostgreSQL table with full tracking.</a:t>
            </a:r>
          </a:p>
          <a:p>
            <a:pPr>
              <a:spcBef>
                <a:spcPts val="600"/>
              </a:spcBef>
              <a:defRPr sz="1050" b="1">
                <a:solidFill>
                  <a:srgbClr val="0F172A"/>
                </a:solidFill>
              </a:defRPr>
            </a:pPr>
            <a:r>
              <a:t>• Zero Licensing Friction</a:t>
            </a:r>
          </a:p>
          <a:p>
            <a:pPr>
              <a:defRPr sz="950">
                <a:solidFill>
                  <a:srgbClr val="64748B"/>
                </a:solidFill>
              </a:defRPr>
            </a:pPr>
            <a:r>
              <a:t>No third-party subscription or seat management needed.</a:t>
            </a:r>
          </a:p>
          <a:p>
            <a:pPr>
              <a:spcBef>
                <a:spcPts val="600"/>
              </a:spcBef>
              <a:defRPr sz="1050" b="1">
                <a:solidFill>
                  <a:srgbClr val="0F172A"/>
                </a:solidFill>
              </a:defRPr>
            </a:pPr>
            <a:r>
              <a:t>• Ideal for Phase 1</a:t>
            </a:r>
          </a:p>
          <a:p>
            <a:pPr>
              <a:defRPr sz="950">
                <a:solidFill>
                  <a:srgbClr val="64748B"/>
                </a:solidFill>
              </a:defRPr>
            </a:pPr>
            <a:r>
              <a:t>Immediate deployment without any external tool procurement.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371600"/>
            <a:ext cx="3474720" cy="4937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43400" y="1371600"/>
            <a:ext cx="3474720" cy="9144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526280" y="1600200"/>
            <a:ext cx="2011680" cy="256032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tIns="0" rIns="0" bIns="0"/>
          <a:lstStyle/>
          <a:p>
            <a:pPr algn="ctr">
              <a:defRPr sz="850" b="1">
                <a:solidFill>
                  <a:srgbClr val="2563EB"/>
                </a:solidFill>
              </a:defRPr>
            </a:pPr>
            <a:r>
              <a:t>OPTION B: OPTIONAL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26280" y="1920240"/>
            <a:ext cx="31089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172A"/>
                </a:solidFill>
              </a:defRPr>
            </a:pPr>
            <a:r>
              <a:t>Atlassian Jira / JSM Cloud</a:t>
            </a:r>
          </a:p>
          <a:p>
            <a:pPr>
              <a:spcBef>
                <a:spcPts val="300"/>
              </a:spcBef>
              <a:defRPr sz="1900" b="1">
                <a:solidFill>
                  <a:srgbClr val="2563EB"/>
                </a:solidFill>
              </a:defRPr>
            </a:pPr>
            <a:r>
              <a:t>$0 - $66 / month</a:t>
            </a:r>
          </a:p>
          <a:p>
            <a:pPr>
              <a:spcBef>
                <a:spcPts val="600"/>
              </a:spcBef>
              <a:defRPr sz="1050" b="1">
                <a:solidFill>
                  <a:srgbClr val="0F172A"/>
                </a:solidFill>
              </a:defRPr>
            </a:pPr>
            <a:r>
              <a:t>• Current Active Integration</a:t>
            </a:r>
          </a:p>
          <a:p>
            <a:pPr>
              <a:defRPr sz="950">
                <a:solidFill>
                  <a:srgbClr val="64748B"/>
                </a:solidFill>
              </a:defRPr>
            </a:pPr>
            <a:r>
              <a:t>Workflow SWF_RAG_NotifyCustomer is already wired to ram25tgh.atlassian.net.</a:t>
            </a:r>
          </a:p>
          <a:p>
            <a:pPr>
              <a:spcBef>
                <a:spcPts val="600"/>
              </a:spcBef>
              <a:defRPr sz="1050" b="1">
                <a:solidFill>
                  <a:srgbClr val="0F172A"/>
                </a:solidFill>
              </a:defRPr>
            </a:pPr>
            <a:r>
              <a:t>• Existing Jira Sunk Cost</a:t>
            </a:r>
          </a:p>
          <a:p>
            <a:pPr>
              <a:defRPr sz="950">
                <a:solidFill>
                  <a:srgbClr val="64748B"/>
                </a:solidFill>
              </a:defRPr>
            </a:pPr>
            <a:r>
              <a:t>$0 incremental if company already has Jira Service Management.</a:t>
            </a:r>
          </a:p>
          <a:p>
            <a:pPr>
              <a:spcBef>
                <a:spcPts val="600"/>
              </a:spcBef>
              <a:defRPr sz="1050" b="1">
                <a:solidFill>
                  <a:srgbClr val="0F172A"/>
                </a:solidFill>
              </a:defRPr>
            </a:pPr>
            <a:r>
              <a:t>• New JSM License Pricing</a:t>
            </a:r>
          </a:p>
          <a:p>
            <a:pPr>
              <a:defRPr sz="950">
                <a:solidFill>
                  <a:srgbClr val="64748B"/>
                </a:solidFill>
              </a:defRPr>
            </a:pPr>
            <a:r>
              <a:t>Free for up to 3 agents; $22.05/agent/mo for standard triage team.</a:t>
            </a:r>
          </a:p>
          <a:p>
            <a:pPr>
              <a:spcBef>
                <a:spcPts val="600"/>
              </a:spcBef>
              <a:defRPr sz="1050" b="1">
                <a:solidFill>
                  <a:srgbClr val="0F172A"/>
                </a:solidFill>
              </a:defRPr>
            </a:pPr>
            <a:r>
              <a:t>• Zero Employee Cost</a:t>
            </a:r>
          </a:p>
          <a:p>
            <a:pPr>
              <a:defRPr sz="950">
                <a:solidFill>
                  <a:srgbClr val="64748B"/>
                </a:solidFill>
              </a:defRPr>
            </a:pPr>
            <a:r>
              <a:t>Employees do NOT need Jira licenses (raised via single bot account).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55280" y="1371600"/>
            <a:ext cx="3474720" cy="4937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955280" y="1371600"/>
            <a:ext cx="3474720" cy="91440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138160" y="1600200"/>
            <a:ext cx="2011680" cy="256032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tIns="0" rIns="0" bIns="0"/>
          <a:lstStyle/>
          <a:p>
            <a:pPr algn="ctr">
              <a:defRPr sz="850" b="1">
                <a:solidFill>
                  <a:srgbClr val="F59E0B"/>
                </a:solidFill>
              </a:defRPr>
            </a:pPr>
            <a:r>
              <a:t>OPTION C: ENTERPRISE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38160" y="1920240"/>
            <a:ext cx="31089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172A"/>
                </a:solidFill>
              </a:defRPr>
            </a:pPr>
            <a:r>
              <a:t>ServiceNow / Freshservice</a:t>
            </a:r>
          </a:p>
          <a:p>
            <a:pPr>
              <a:spcBef>
                <a:spcPts val="300"/>
              </a:spcBef>
              <a:defRPr sz="1900" b="1">
                <a:solidFill>
                  <a:srgbClr val="F59E0B"/>
                </a:solidFill>
              </a:defRPr>
            </a:pPr>
            <a:r>
              <a:t>Enterprise Sunk Asset</a:t>
            </a:r>
          </a:p>
          <a:p>
            <a:pPr>
              <a:spcBef>
                <a:spcPts val="600"/>
              </a:spcBef>
              <a:defRPr sz="1050" b="1">
                <a:solidFill>
                  <a:srgbClr val="0F172A"/>
                </a:solidFill>
              </a:defRPr>
            </a:pPr>
            <a:r>
              <a:t>• Enterprise ITSM Ready</a:t>
            </a:r>
          </a:p>
          <a:p>
            <a:pPr>
              <a:defRPr sz="950">
                <a:solidFill>
                  <a:srgbClr val="64748B"/>
                </a:solidFill>
              </a:defRPr>
            </a:pPr>
            <a:r>
              <a:t>Easily swappable: replace Jira node with ServiceNow Table API in n8n.</a:t>
            </a:r>
          </a:p>
          <a:p>
            <a:pPr>
              <a:spcBef>
                <a:spcPts val="600"/>
              </a:spcBef>
              <a:defRPr sz="1050" b="1">
                <a:solidFill>
                  <a:srgbClr val="0F172A"/>
                </a:solidFill>
              </a:defRPr>
            </a:pPr>
            <a:r>
              <a:t>• Incident &amp; HR Case Mgmt</a:t>
            </a:r>
          </a:p>
          <a:p>
            <a:pPr>
              <a:defRPr sz="950">
                <a:solidFill>
                  <a:srgbClr val="64748B"/>
                </a:solidFill>
              </a:defRPr>
            </a:pPr>
            <a:r>
              <a:t>Creates formal HR Case with category, urgency, and chat attachments.</a:t>
            </a:r>
          </a:p>
          <a:p>
            <a:pPr>
              <a:spcBef>
                <a:spcPts val="600"/>
              </a:spcBef>
              <a:defRPr sz="1050" b="1">
                <a:solidFill>
                  <a:srgbClr val="0F172A"/>
                </a:solidFill>
              </a:defRPr>
            </a:pPr>
            <a:r>
              <a:t>• Single Sign-On Sync</a:t>
            </a:r>
          </a:p>
          <a:p>
            <a:pPr>
              <a:defRPr sz="950">
                <a:solidFill>
                  <a:srgbClr val="64748B"/>
                </a:solidFill>
              </a:defRPr>
            </a:pPr>
            <a:r>
              <a:t>Seamless sync with corporate Active Directory / Okta identities.</a:t>
            </a:r>
          </a:p>
          <a:p>
            <a:pPr>
              <a:spcBef>
                <a:spcPts val="600"/>
              </a:spcBef>
              <a:defRPr sz="1050" b="1">
                <a:solidFill>
                  <a:srgbClr val="0F172A"/>
                </a:solidFill>
              </a:defRPr>
            </a:pPr>
            <a:r>
              <a:t>• Zero Net-New if Existing</a:t>
            </a:r>
          </a:p>
          <a:p>
            <a:pPr>
              <a:defRPr sz="950">
                <a:solidFill>
                  <a:srgbClr val="64748B"/>
                </a:solidFill>
              </a:defRPr>
            </a:pPr>
            <a:r>
              <a:t>Leverages existing corporate ServiceNow license pool.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47472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2563EB"/>
                </a:solidFill>
              </a:defRPr>
            </a:pPr>
            <a:r>
              <a:t>TGH AI INITIATIVE • EXECUTIVE STRATEGY &amp;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0F172A"/>
                </a:solidFill>
              </a:defRPr>
            </a:pPr>
            <a:r>
              <a:t>Consolidated Budget Decision Matrix for CEO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10698480" cy="4937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914400" y="1554480"/>
          <a:ext cx="10332720" cy="452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2377440"/>
                <a:gridCol w="2377440"/>
                <a:gridCol w="2377440"/>
              </a:tblGrid>
              <a:tr h="565785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8FAFC"/>
                          </a:solidFill>
                        </a:defRPr>
                      </a:pPr>
                      <a:r>
                        <a:t>Component / Dimension</a:t>
                      </a:r>
                    </a:p>
                  </a:txBody>
                  <a:tcPr anchor="ctr">
                    <a:solidFill>
                      <a:srgbClr val="0B13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8FAFC"/>
                          </a:solidFill>
                        </a:defRPr>
                      </a:pPr>
                      <a:r>
                        <a:t>SCENARIO 1: LEAN PRODUCTION</a:t>
                      </a:r>
                      <a:br/>
                      <a:r>
                        <a:t>(Hostinger Postgres + Teams)</a:t>
                      </a:r>
                    </a:p>
                  </a:txBody>
                  <a:tcPr anchor="ctr">
                    <a:solidFill>
                      <a:srgbClr val="0B13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8FAFC"/>
                          </a:solidFill>
                        </a:defRPr>
                      </a:pPr>
                      <a:r>
                        <a:t>SCENARIO 2: JIRA PILOT</a:t>
                      </a:r>
                      <a:br/>
                      <a:r>
                        <a:t>(Pinecone Serverless + Jira)</a:t>
                      </a:r>
                    </a:p>
                  </a:txBody>
                  <a:tcPr anchor="ctr">
                    <a:solidFill>
                      <a:srgbClr val="0B13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8FAFC"/>
                          </a:solidFill>
                        </a:defRPr>
                      </a:pPr>
                      <a:r>
                        <a:t>SCENARIO 3: ENTERPRISE ITSM</a:t>
                      </a:r>
                      <a:br/>
                      <a:r>
                        <a:t>(Managed DB + 3 JSM Seats)</a:t>
                      </a:r>
                    </a:p>
                  </a:txBody>
                  <a:tcPr anchor="ctr">
                    <a:solidFill>
                      <a:srgbClr val="0B132B"/>
                    </a:solidFill>
                  </a:tcPr>
                </a:tc>
              </a:tr>
              <a:tr h="565785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0F172A"/>
                          </a:solidFill>
                        </a:defRPr>
                      </a:pPr>
                      <a:r>
                        <a:t>Hostinger Cloud VPS (n8n)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0F172A"/>
                          </a:solidFill>
                        </a:defRPr>
                      </a:pPr>
                      <a:r>
                        <a:t>$0 (Already Active)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0F172A"/>
                          </a:solidFill>
                        </a:defRPr>
                      </a:pPr>
                      <a:r>
                        <a:t>$0 (Already Active)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0F172A"/>
                          </a:solidFill>
                        </a:defRPr>
                      </a:pPr>
                      <a:r>
                        <a:t>$0 (Already Active)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65785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0F172A"/>
                          </a:solidFill>
                        </a:defRPr>
                      </a:pPr>
                      <a:r>
                        <a:t>Microsoft Teams &amp; Graph API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0F172A"/>
                          </a:solidFill>
                        </a:defRPr>
                      </a:pPr>
                      <a:r>
                        <a:t>$0 (Existing M365)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0F172A"/>
                          </a:solidFill>
                        </a:defRPr>
                      </a:pPr>
                      <a:r>
                        <a:t>$0 (Existing M365)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0F172A"/>
                          </a:solidFill>
                        </a:defRPr>
                      </a:pPr>
                      <a:r>
                        <a:t>$0 (Existing M365)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  <a:tr h="565785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0F172A"/>
                          </a:solidFill>
                        </a:defRPr>
                      </a:pPr>
                      <a:r>
                        <a:t>Google Gemini Flash LLM (5k queries)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0F172A"/>
                          </a:solidFill>
                        </a:defRPr>
                      </a:pPr>
                      <a:r>
                        <a:t>~$3.25 / month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0F172A"/>
                          </a:solidFill>
                        </a:defRPr>
                      </a:pPr>
                      <a:r>
                        <a:t>~$3.25 / month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0F172A"/>
                          </a:solidFill>
                        </a:defRPr>
                      </a:pPr>
                      <a:r>
                        <a:t>~$3.25 / month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65785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0F172A"/>
                          </a:solidFill>
                        </a:defRPr>
                      </a:pPr>
                      <a:r>
                        <a:t>Vector DB Storage (1 GB - 10 GB+)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0F172A"/>
                          </a:solidFill>
                        </a:defRPr>
                      </a:pPr>
                      <a:r>
                        <a:t>$0 (PgVector on Hostinger)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0F172A"/>
                          </a:solidFill>
                        </a:defRPr>
                      </a:pPr>
                      <a:r>
                        <a:t>~$1.65 - $3.30 (Pinecone)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0F172A"/>
                          </a:solidFill>
                        </a:defRPr>
                      </a:pPr>
                      <a:r>
                        <a:t>~$3.30 / mo (Pinecone)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  <a:tr h="565785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0F172A"/>
                          </a:solidFill>
                        </a:defRPr>
                      </a:pPr>
                      <a:r>
                        <a:t>Audit Database Storage (Scaled)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0F172A"/>
                          </a:solidFill>
                        </a:defRPr>
                      </a:pPr>
                      <a:r>
                        <a:t>$0 (PostgreSQL on Hostinger)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0F172A"/>
                          </a:solidFill>
                        </a:defRPr>
                      </a:pPr>
                      <a:r>
                        <a:t>$0 (PostgreSQL on Hostinger)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0F172A"/>
                          </a:solidFill>
                        </a:defRPr>
                      </a:pPr>
                      <a:r>
                        <a:t>~$15.00 (Managed Cloud DB)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65785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0F172A"/>
                          </a:solidFill>
                        </a:defRPr>
                      </a:pPr>
                      <a:r>
                        <a:t>Ticketing Tool License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0F172A"/>
                          </a:solidFill>
                        </a:defRPr>
                      </a:pPr>
                      <a:r>
                        <a:t>$0 (Native Teams / Webhook)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0F172A"/>
                          </a:solidFill>
                        </a:defRPr>
                      </a:pPr>
                      <a:r>
                        <a:t>$0 (Jira Free 3-Agent)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0F172A"/>
                          </a:solidFill>
                        </a:defRPr>
                      </a:pPr>
                      <a:r>
                        <a:t>$66.15 (3 Paid JSM Seats)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  <a:tr h="565785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8FAFC"/>
                          </a:solidFill>
                        </a:defRPr>
                      </a:pPr>
                      <a:r>
                        <a:t>NET INCREMENTAL MONTHLY COST</a:t>
                      </a:r>
                    </a:p>
                  </a:txBody>
                  <a:tcPr anchor="ctr">
                    <a:solidFill>
                      <a:srgbClr val="0B13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66534"/>
                          </a:solidFill>
                        </a:defRPr>
                      </a:pPr>
                      <a:r>
                        <a:t>~$3.25 - $4.00 / mo</a:t>
                      </a:r>
                    </a:p>
                  </a:txBody>
                  <a:tcPr anchor="ctr"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66534"/>
                          </a:solidFill>
                        </a:defRPr>
                      </a:pPr>
                      <a:r>
                        <a:t>~$4.90 - $6.55 / mo</a:t>
                      </a:r>
                    </a:p>
                  </a:txBody>
                  <a:tcPr anchor="ctr"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66534"/>
                          </a:solidFill>
                        </a:defRPr>
                      </a:pPr>
                      <a:r>
                        <a:t>~$87.70 / mo</a:t>
                      </a:r>
                    </a:p>
                  </a:txBody>
                  <a:tcPr anchor="ctr">
                    <a:solidFill>
                      <a:srgbClr val="DCFCE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47472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2563EB"/>
                </a:solidFill>
              </a:defRPr>
            </a:pPr>
            <a:r>
              <a:t>TGH AI INITIATIVE • EXECUTIVE STRATEGY &amp;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0F172A"/>
                </a:solidFill>
              </a:defRPr>
            </a:pPr>
            <a:r>
              <a:t>Business ROI: Immediate Payback &amp; Labor Savings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3474720" cy="4937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371600"/>
            <a:ext cx="3474720" cy="91440"/>
          </a:xfrm>
          <a:prstGeom prst="rect">
            <a:avLst/>
          </a:prstGeom>
          <a:solidFill>
            <a:srgbClr val="EF4444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00200"/>
            <a:ext cx="3108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F4444"/>
                </a:solidFill>
              </a:defRPr>
            </a:pPr>
            <a:r>
              <a:t>THE MANUAL REALITY</a:t>
            </a:r>
          </a:p>
          <a:p>
            <a:pPr>
              <a:defRPr sz="1400" b="1">
                <a:solidFill>
                  <a:srgbClr val="0F172A"/>
                </a:solidFill>
              </a:defRPr>
            </a:pPr>
            <a:r>
              <a:t>Human HR Support</a:t>
            </a:r>
          </a:p>
          <a:p>
            <a:pPr>
              <a:spcBef>
                <a:spcPts val="800"/>
              </a:spcBef>
              <a:defRPr sz="3600" b="1">
                <a:solidFill>
                  <a:srgbClr val="EF4444"/>
                </a:solidFill>
              </a:defRPr>
            </a:pPr>
            <a:r>
              <a:t>$18.50</a:t>
            </a:r>
          </a:p>
          <a:p>
            <a:pPr>
              <a:defRPr sz="1000" i="1">
                <a:solidFill>
                  <a:srgbClr val="64748B"/>
                </a:solidFill>
              </a:defRPr>
            </a:pPr>
            <a:r>
              <a:t>average cost per ticket</a:t>
            </a:r>
          </a:p>
          <a:p>
            <a:pPr>
              <a:spcAft>
                <a:spcPts val="600"/>
              </a:spcAft>
              <a:defRPr sz="1000">
                <a:solidFill>
                  <a:srgbClr val="0F172A"/>
                </a:solidFill>
              </a:defRPr>
            </a:pPr>
            <a:r>
              <a:t>• 15 - 25 minutes spent per routine inquiry</a:t>
            </a:r>
          </a:p>
          <a:p>
            <a:pPr>
              <a:spcAft>
                <a:spcPts val="600"/>
              </a:spcAft>
              <a:defRPr sz="1000">
                <a:solidFill>
                  <a:srgbClr val="0F172A"/>
                </a:solidFill>
              </a:defRPr>
            </a:pPr>
            <a:r>
              <a:t>• Slow turnaround on leave/bench policies</a:t>
            </a:r>
          </a:p>
          <a:p>
            <a:pPr>
              <a:spcAft>
                <a:spcPts val="600"/>
              </a:spcAft>
              <a:defRPr sz="1000">
                <a:solidFill>
                  <a:srgbClr val="0F172A"/>
                </a:solidFill>
              </a:defRPr>
            </a:pPr>
            <a:r>
              <a:t>• Frequent context switching for HR team</a:t>
            </a:r>
          </a:p>
          <a:p>
            <a:pPr>
              <a:spcAft>
                <a:spcPts val="600"/>
              </a:spcAft>
              <a:defRPr sz="1000">
                <a:solidFill>
                  <a:srgbClr val="0F172A"/>
                </a:solidFill>
              </a:defRPr>
            </a:pPr>
            <a:r>
              <a:t>• 5,000 inquiries = ~$92,500 in labor overhead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1371600"/>
            <a:ext cx="3474720" cy="4937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43400" y="1371600"/>
            <a:ext cx="3474720" cy="9144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26280" y="1600200"/>
            <a:ext cx="3108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</a:defRPr>
            </a:pPr>
            <a:r>
              <a:t>THE AI AGENT ALTERNATIVE</a:t>
            </a:r>
          </a:p>
          <a:p>
            <a:pPr>
              <a:defRPr sz="1400" b="1">
                <a:solidFill>
                  <a:srgbClr val="0F172A"/>
                </a:solidFill>
              </a:defRPr>
            </a:pPr>
            <a:r>
              <a:t>Autonomous Resolution</a:t>
            </a:r>
          </a:p>
          <a:p>
            <a:pPr>
              <a:spcBef>
                <a:spcPts val="800"/>
              </a:spcBef>
              <a:defRPr sz="3600" b="1">
                <a:solidFill>
                  <a:srgbClr val="10B981"/>
                </a:solidFill>
              </a:defRPr>
            </a:pPr>
            <a:r>
              <a:t>&lt; $0.002</a:t>
            </a:r>
          </a:p>
          <a:p>
            <a:pPr>
              <a:defRPr sz="1000" i="1">
                <a:solidFill>
                  <a:srgbClr val="64748B"/>
                </a:solidFill>
              </a:defRPr>
            </a:pPr>
            <a:r>
              <a:t>compute cost per resolution</a:t>
            </a:r>
          </a:p>
          <a:p>
            <a:pPr>
              <a:spcAft>
                <a:spcPts val="600"/>
              </a:spcAft>
              <a:defRPr sz="1000">
                <a:solidFill>
                  <a:srgbClr val="0F172A"/>
                </a:solidFill>
              </a:defRPr>
            </a:pPr>
            <a:r>
              <a:t>• Instant answers (&lt; 3 seconds) in MS Teams</a:t>
            </a:r>
          </a:p>
          <a:p>
            <a:pPr>
              <a:spcAft>
                <a:spcPts val="600"/>
              </a:spcAft>
              <a:defRPr sz="1000">
                <a:solidFill>
                  <a:srgbClr val="0F172A"/>
                </a:solidFill>
              </a:defRPr>
            </a:pPr>
            <a:r>
              <a:t>• 85% inquiry deflection without HR involvement</a:t>
            </a:r>
          </a:p>
          <a:p>
            <a:pPr>
              <a:spcAft>
                <a:spcPts val="600"/>
              </a:spcAft>
              <a:defRPr sz="1000">
                <a:solidFill>
                  <a:srgbClr val="0F172A"/>
                </a:solidFill>
              </a:defRPr>
            </a:pPr>
            <a:r>
              <a:t>• Zero hallucination risk (strict RAG grounding)</a:t>
            </a:r>
          </a:p>
          <a:p>
            <a:pPr>
              <a:spcAft>
                <a:spcPts val="600"/>
              </a:spcAft>
              <a:defRPr sz="1000">
                <a:solidFill>
                  <a:srgbClr val="0F172A"/>
                </a:solidFill>
              </a:defRPr>
            </a:pPr>
            <a:r>
              <a:t>• Available 24/7 across all work shifts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55280" y="1371600"/>
            <a:ext cx="3474720" cy="4937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955280" y="1371600"/>
            <a:ext cx="3474720" cy="9144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38160" y="1600200"/>
            <a:ext cx="3108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NET COMPANY IMPACT</a:t>
            </a:r>
          </a:p>
          <a:p>
            <a:pPr>
              <a:defRPr sz="1400" b="1">
                <a:solidFill>
                  <a:srgbClr val="0F172A"/>
                </a:solidFill>
              </a:defRPr>
            </a:pPr>
            <a:r>
              <a:t>Productivity Realized</a:t>
            </a:r>
          </a:p>
          <a:p>
            <a:pPr>
              <a:spcBef>
                <a:spcPts val="800"/>
              </a:spcBef>
              <a:defRPr sz="3600" b="1">
                <a:solidFill>
                  <a:srgbClr val="2563EB"/>
                </a:solidFill>
              </a:defRPr>
            </a:pPr>
            <a:r>
              <a:t>$45,000+</a:t>
            </a:r>
          </a:p>
          <a:p>
            <a:pPr>
              <a:defRPr sz="1000" i="1">
                <a:solidFill>
                  <a:srgbClr val="64748B"/>
                </a:solidFill>
              </a:defRPr>
            </a:pPr>
            <a:r>
              <a:t>annualized value unlocked</a:t>
            </a:r>
          </a:p>
          <a:p>
            <a:pPr>
              <a:spcAft>
                <a:spcPts val="600"/>
              </a:spcAft>
              <a:defRPr sz="1000">
                <a:solidFill>
                  <a:srgbClr val="0F172A"/>
                </a:solidFill>
              </a:defRPr>
            </a:pPr>
            <a:r>
              <a:t>• 1,200+ hours of HR staff time saved per year</a:t>
            </a:r>
          </a:p>
          <a:p>
            <a:pPr>
              <a:spcAft>
                <a:spcPts val="600"/>
              </a:spcAft>
              <a:defRPr sz="1000">
                <a:solidFill>
                  <a:srgbClr val="0F172A"/>
                </a:solidFill>
              </a:defRPr>
            </a:pPr>
            <a:r>
              <a:t>• HR team shifts from FAQs to talent retention</a:t>
            </a:r>
          </a:p>
          <a:p>
            <a:pPr>
              <a:spcAft>
                <a:spcPts val="600"/>
              </a:spcAft>
              <a:defRPr sz="1000">
                <a:solidFill>
                  <a:srgbClr val="0F172A"/>
                </a:solidFill>
              </a:defRPr>
            </a:pPr>
            <a:r>
              <a:t>• Scales effortlessly as company headcount grows</a:t>
            </a:r>
          </a:p>
          <a:p>
            <a:pPr>
              <a:spcAft>
                <a:spcPts val="600"/>
              </a:spcAft>
              <a:defRPr sz="1000">
                <a:solidFill>
                  <a:srgbClr val="0F172A"/>
                </a:solidFill>
              </a:defRPr>
            </a:pPr>
            <a:r>
              <a:t>• PAYBACK PERIOD: DAY 1 (&lt; 24 Hours)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47472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2563EB"/>
                </a:solidFill>
              </a:defRPr>
            </a:pPr>
            <a:r>
              <a:t>TGH AI INITIATIVE • EXECUTIVE STRATEGY &amp;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0F172A"/>
                </a:solidFill>
              </a:defRPr>
            </a:pPr>
            <a:r>
              <a:t>Enterprise Governance: Anti-Hallucination &amp; Compliance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21208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08760"/>
            <a:ext cx="48463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2563EB"/>
                </a:solidFill>
              </a:defRPr>
            </a:pPr>
            <a:r>
              <a:t>1. Strict Anti-Hallucination</a:t>
            </a:r>
          </a:p>
          <a:p>
            <a:pPr>
              <a:spcBef>
                <a:spcPts val="300"/>
              </a:spcBef>
              <a:defRPr sz="1000" b="1">
                <a:solidFill>
                  <a:srgbClr val="0F172A"/>
                </a:solidFill>
              </a:defRPr>
            </a:pPr>
            <a:r>
              <a:t>✔ RAG Grounding Only: </a:t>
            </a:r>
            <a:r>
              <a:rPr b="0">
                <a:solidFill>
                  <a:srgbClr val="64748B"/>
                </a:solidFill>
              </a:rPr>
              <a:t>The model is strictly prohibited from answering using generic public web knowledge.</a:t>
            </a:r>
          </a:p>
          <a:p>
            <a:pPr>
              <a:spcBef>
                <a:spcPts val="300"/>
              </a:spcBef>
              <a:defRPr sz="1000" b="1">
                <a:solidFill>
                  <a:srgbClr val="0F172A"/>
                </a:solidFill>
              </a:defRPr>
            </a:pPr>
            <a:r>
              <a:t>✔ Source Attribution: </a:t>
            </a:r>
            <a:r>
              <a:rPr b="0">
                <a:solidFill>
                  <a:srgbClr val="64748B"/>
                </a:solidFill>
              </a:rPr>
              <a:t>Every policy response cites document name and section (e.g., Leave Policy, Sec 4).</a:t>
            </a:r>
          </a:p>
          <a:p>
            <a:pPr>
              <a:spcBef>
                <a:spcPts val="300"/>
              </a:spcBef>
              <a:defRPr sz="1000" b="1">
                <a:solidFill>
                  <a:srgbClr val="0F172A"/>
                </a:solidFill>
              </a:defRPr>
            </a:pPr>
            <a:r>
              <a:t>✔ 16 Guardrail Rules: </a:t>
            </a:r>
            <a:r>
              <a:rPr b="0">
                <a:solidFill>
                  <a:srgbClr val="64748B"/>
                </a:solidFill>
              </a:rPr>
              <a:t>Explicit prompt rules forbidding speculation on salaries, benefits, or unwritten rules.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2200" y="1371600"/>
            <a:ext cx="521208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55080" y="1508760"/>
            <a:ext cx="48463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2563EB"/>
                </a:solidFill>
              </a:defRPr>
            </a:pPr>
            <a:r>
              <a:t>2. Fallback &amp; Insufficient Data</a:t>
            </a:r>
          </a:p>
          <a:p>
            <a:pPr>
              <a:spcBef>
                <a:spcPts val="300"/>
              </a:spcBef>
              <a:defRPr sz="1000" b="1">
                <a:solidFill>
                  <a:srgbClr val="0F172A"/>
                </a:solidFill>
              </a:defRPr>
            </a:pPr>
            <a:r>
              <a:t>✔ Confidence Check: </a:t>
            </a:r>
            <a:r>
              <a:rPr b="0">
                <a:solidFill>
                  <a:srgbClr val="64748B"/>
                </a:solidFill>
              </a:rPr>
              <a:t>Every response classifies as 'Sufficient Data' or 'Insufficient Data'.</a:t>
            </a:r>
          </a:p>
          <a:p>
            <a:pPr>
              <a:spcBef>
                <a:spcPts val="300"/>
              </a:spcBef>
              <a:defRPr sz="1000" b="1">
                <a:solidFill>
                  <a:srgbClr val="0F172A"/>
                </a:solidFill>
              </a:defRPr>
            </a:pPr>
            <a:r>
              <a:t>✔ Zero Guesswork: </a:t>
            </a:r>
            <a:r>
              <a:rPr b="0">
                <a:solidFill>
                  <a:srgbClr val="64748B"/>
                </a:solidFill>
              </a:rPr>
              <a:t>If policy documentation does not cover the question, it politely refuses to guess.</a:t>
            </a:r>
          </a:p>
          <a:p>
            <a:pPr>
              <a:spcBef>
                <a:spcPts val="300"/>
              </a:spcBef>
              <a:defRPr sz="1000" b="1">
                <a:solidFill>
                  <a:srgbClr val="0F172A"/>
                </a:solidFill>
              </a:defRPr>
            </a:pPr>
            <a:r>
              <a:t>✔ Graceful Escalation: </a:t>
            </a:r>
            <a:r>
              <a:rPr b="0">
                <a:solidFill>
                  <a:srgbClr val="64748B"/>
                </a:solidFill>
              </a:rPr>
              <a:t>Automatically offers human HR escalation with pre-filled context.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840480"/>
            <a:ext cx="521208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977640"/>
            <a:ext cx="48463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2563EB"/>
                </a:solidFill>
              </a:defRPr>
            </a:pPr>
            <a:r>
              <a:t>3. Full Audit &amp; BI Analytics</a:t>
            </a:r>
          </a:p>
          <a:p>
            <a:pPr>
              <a:spcBef>
                <a:spcPts val="300"/>
              </a:spcBef>
              <a:defRPr sz="1000" b="1">
                <a:solidFill>
                  <a:srgbClr val="0F172A"/>
                </a:solidFill>
              </a:defRPr>
            </a:pPr>
            <a:r>
              <a:t>✔ Decoupled SQL Store: </a:t>
            </a:r>
            <a:r>
              <a:rPr b="0">
                <a:solidFill>
                  <a:srgbClr val="64748B"/>
                </a:solidFill>
              </a:rPr>
              <a:t>All interactions stored in external PostgreSQL (Name, Question, Answer, Timestamp).</a:t>
            </a:r>
          </a:p>
          <a:p>
            <a:pPr>
              <a:spcBef>
                <a:spcPts val="300"/>
              </a:spcBef>
              <a:defRPr sz="1000" b="1">
                <a:solidFill>
                  <a:srgbClr val="0F172A"/>
                </a:solidFill>
              </a:defRPr>
            </a:pPr>
            <a:r>
              <a:t>✔ Feedback Loop: </a:t>
            </a:r>
            <a:r>
              <a:rPr b="0">
                <a:solidFill>
                  <a:srgbClr val="64748B"/>
                </a:solidFill>
              </a:rPr>
              <a:t>Employees click 👍 or 👎 to log satisfaction directly into the audit record.</a:t>
            </a:r>
          </a:p>
          <a:p>
            <a:pPr>
              <a:spcBef>
                <a:spcPts val="300"/>
              </a:spcBef>
              <a:defRPr sz="1000" b="1">
                <a:solidFill>
                  <a:srgbClr val="0F172A"/>
                </a:solidFill>
              </a:defRPr>
            </a:pPr>
            <a:r>
              <a:t>✔ Power BI / Metabase: </a:t>
            </a:r>
            <a:r>
              <a:rPr b="0">
                <a:solidFill>
                  <a:srgbClr val="64748B"/>
                </a:solidFill>
              </a:rPr>
              <a:t>Enables direct connection for HR leadership dashboards on employee policy queries.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3840480"/>
            <a:ext cx="521208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5080" y="3977640"/>
            <a:ext cx="48463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2563EB"/>
                </a:solidFill>
              </a:defRPr>
            </a:pPr>
            <a:r>
              <a:t>4. Data Security &amp; Privacy</a:t>
            </a:r>
          </a:p>
          <a:p>
            <a:pPr>
              <a:spcBef>
                <a:spcPts val="300"/>
              </a:spcBef>
              <a:defRPr sz="1000" b="1">
                <a:solidFill>
                  <a:srgbClr val="0F172A"/>
                </a:solidFill>
              </a:defRPr>
            </a:pPr>
            <a:r>
              <a:t>✔ Hostinger Control: </a:t>
            </a:r>
            <a:r>
              <a:rPr b="0">
                <a:solidFill>
                  <a:srgbClr val="64748B"/>
                </a:solidFill>
              </a:rPr>
              <a:t>n8n and PostgreSQL run entirely on TGH's private Hostinger VPS instance.</a:t>
            </a:r>
          </a:p>
          <a:p>
            <a:pPr>
              <a:spcBef>
                <a:spcPts val="300"/>
              </a:spcBef>
              <a:defRPr sz="1000" b="1">
                <a:solidFill>
                  <a:srgbClr val="0F172A"/>
                </a:solidFill>
              </a:defRPr>
            </a:pPr>
            <a:r>
              <a:t>✔ Zero Model Training: </a:t>
            </a:r>
            <a:r>
              <a:rPr b="0">
                <a:solidFill>
                  <a:srgbClr val="64748B"/>
                </a:solidFill>
              </a:rPr>
              <a:t>Enterprise API terms guarantee Google Gemini does not train on company data.</a:t>
            </a:r>
          </a:p>
          <a:p>
            <a:pPr>
              <a:spcBef>
                <a:spcPts val="300"/>
              </a:spcBef>
              <a:defRPr sz="1000" b="1">
                <a:solidFill>
                  <a:srgbClr val="0F172A"/>
                </a:solidFill>
              </a:defRPr>
            </a:pPr>
            <a:r>
              <a:t>✔ Token Sanitization: </a:t>
            </a:r>
            <a:r>
              <a:rPr b="0">
                <a:solidFill>
                  <a:srgbClr val="64748B"/>
                </a:solidFill>
              </a:rPr>
              <a:t>HTML escaping and regex scrubbing prevent prompt injection or script execution.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solidFill>
              <a:srgbClr val="0B13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8FAFC"/>
                </a:solidFill>
              </a:defRPr>
            </a:pPr>
            <a:r>
              <a:t>Executive Recommendation &amp; Immediate Next Steps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737360"/>
            <a:ext cx="5212080" cy="4389120"/>
          </a:xfrm>
          <a:prstGeom prst="roundRect">
            <a:avLst/>
          </a:prstGeom>
          <a:solidFill>
            <a:srgbClr val="1C2541"/>
          </a:solidFill>
          <a:ln w="12700">
            <a:solidFill>
              <a:srgbClr val="1C25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737360"/>
            <a:ext cx="5212080" cy="73152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920240"/>
            <a:ext cx="47548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1">
                <a:solidFill>
                  <a:srgbClr val="10B981"/>
                </a:solidFill>
              </a:defRPr>
            </a:pPr>
            <a:r>
              <a:t>RECOMMENDED ACTION: LAUNCH PHASE 1 (LEAN PRODUCTION)</a:t>
            </a:r>
          </a:p>
          <a:p>
            <a:pPr>
              <a:spcBef>
                <a:spcPts val="600"/>
              </a:spcBef>
              <a:defRPr sz="1050" b="1">
                <a:solidFill>
                  <a:srgbClr val="F8FAFC"/>
                </a:solidFill>
              </a:defRPr>
            </a:pPr>
            <a:r>
              <a:t>👉 Approve Phase 1 (Lean Launch)</a:t>
            </a:r>
          </a:p>
          <a:p>
            <a:pPr>
              <a:defRPr sz="900">
                <a:solidFill>
                  <a:srgbClr val="94A3B8"/>
                </a:solidFill>
              </a:defRPr>
            </a:pPr>
            <a:r>
              <a:t>Deploy with existing Hostinger VPS + Gemini Flash + PostgreSQL on VPS. Total monthly company spend: ~$3.50 - $4.00.</a:t>
            </a:r>
          </a:p>
          <a:p>
            <a:pPr>
              <a:spcBef>
                <a:spcPts val="600"/>
              </a:spcBef>
              <a:defRPr sz="1050" b="1">
                <a:solidFill>
                  <a:srgbClr val="F8FAFC"/>
                </a:solidFill>
              </a:defRPr>
            </a:pPr>
            <a:r>
              <a:t>👉 Decouple from n8n Data Table</a:t>
            </a:r>
          </a:p>
          <a:p>
            <a:pPr>
              <a:defRPr sz="900">
                <a:solidFill>
                  <a:srgbClr val="94A3B8"/>
                </a:solidFill>
              </a:defRPr>
            </a:pPr>
            <a:r>
              <a:t>Route audit logs to PostgreSQL on Hostinger VPS, ensuring zero 50MB bottleneck and direct Power BI access.</a:t>
            </a:r>
          </a:p>
          <a:p>
            <a:pPr>
              <a:spcBef>
                <a:spcPts val="600"/>
              </a:spcBef>
              <a:defRPr sz="1050" b="1">
                <a:solidFill>
                  <a:srgbClr val="F8FAFC"/>
                </a:solidFill>
              </a:defRPr>
            </a:pPr>
            <a:r>
              <a:t>👉 Ingest Full Document Library</a:t>
            </a:r>
          </a:p>
          <a:p>
            <a:pPr>
              <a:defRPr sz="900">
                <a:solidFill>
                  <a:srgbClr val="94A3B8"/>
                </a:solidFill>
              </a:defRPr>
            </a:pPr>
            <a:r>
              <a:t>Scale vector index to cover all SOPs, HR handbooks, and policies (gigabytes supported for pennies on Pinecone/PgVector).</a:t>
            </a:r>
          </a:p>
          <a:p>
            <a:pPr>
              <a:spcBef>
                <a:spcPts val="600"/>
              </a:spcBef>
              <a:defRPr sz="1050" b="1">
                <a:solidFill>
                  <a:srgbClr val="F8FAFC"/>
                </a:solidFill>
              </a:defRPr>
            </a:pPr>
            <a:r>
              <a:t>👉 Keep Ticketing as Optional Phase 2</a:t>
            </a:r>
          </a:p>
          <a:p>
            <a:pPr>
              <a:defRPr sz="900">
                <a:solidFill>
                  <a:srgbClr val="94A3B8"/>
                </a:solidFill>
              </a:defRPr>
            </a:pPr>
            <a:r>
              <a:t>Launch with native MS Teams escalation. Add Jira/ServiceNow seats only if formal ticket routing is needed.</a:t>
            </a:r>
          </a:p>
          <a:p>
            <a:pPr>
              <a:spcBef>
                <a:spcPts val="600"/>
              </a:spcBef>
              <a:defRPr sz="1050" b="1">
                <a:solidFill>
                  <a:srgbClr val="F8FAFC"/>
                </a:solidFill>
              </a:defRPr>
            </a:pPr>
            <a:r>
              <a:t>👉 48-Hour Deployment Horizon</a:t>
            </a:r>
          </a:p>
          <a:p>
            <a:pPr>
              <a:defRPr sz="900">
                <a:solidFill>
                  <a:srgbClr val="94A3B8"/>
                </a:solidFill>
              </a:defRPr>
            </a:pPr>
            <a:r>
              <a:t>Core workflows are already built, tested, and running in n8n. Deployment requires zero new server provisioning.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737360"/>
            <a:ext cx="5212080" cy="4389120"/>
          </a:xfrm>
          <a:prstGeom prst="roundRect">
            <a:avLst/>
          </a:prstGeom>
          <a:solidFill>
            <a:srgbClr val="1C2541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217920" y="1737360"/>
            <a:ext cx="5212080" cy="73152"/>
          </a:xfrm>
          <a:prstGeom prst="rect">
            <a:avLst/>
          </a:prstGeom>
          <a:solidFill>
            <a:srgbClr val="06B6D4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1920240"/>
            <a:ext cx="47548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1">
                <a:solidFill>
                  <a:srgbClr val="06B6D4"/>
                </a:solidFill>
              </a:defRPr>
            </a:pPr>
            <a:r>
              <a:t>THE BOTTOM-LINE FOR LEADERSHIP</a:t>
            </a:r>
          </a:p>
          <a:p>
            <a:pPr>
              <a:spcBef>
                <a:spcPts val="600"/>
              </a:spcBef>
              <a:defRPr sz="1050" b="1">
                <a:solidFill>
                  <a:srgbClr val="F8FAFC"/>
                </a:solidFill>
              </a:defRPr>
            </a:pPr>
            <a:r>
              <a:t>• Net-New Capital Required:</a:t>
            </a:r>
          </a:p>
          <a:p>
            <a:pPr>
              <a:defRPr sz="1000" b="1">
                <a:solidFill>
                  <a:srgbClr val="10B981"/>
                </a:solidFill>
              </a:defRPr>
            </a:pPr>
            <a:r>
              <a:t>  $0.00 in software capital expenditures</a:t>
            </a:r>
          </a:p>
          <a:p>
            <a:pPr>
              <a:spcBef>
                <a:spcPts val="600"/>
              </a:spcBef>
              <a:defRPr sz="1050" b="1">
                <a:solidFill>
                  <a:srgbClr val="F8FAFC"/>
                </a:solidFill>
              </a:defRPr>
            </a:pPr>
            <a:r>
              <a:t>• Monthly Operational Spend:</a:t>
            </a:r>
          </a:p>
          <a:p>
            <a:pPr>
              <a:defRPr sz="1000" b="1">
                <a:solidFill>
                  <a:srgbClr val="10B981"/>
                </a:solidFill>
              </a:defRPr>
            </a:pPr>
            <a:r>
              <a:t>  &lt; $5.00 / month (micro-cent compute)</a:t>
            </a:r>
          </a:p>
          <a:p>
            <a:pPr>
              <a:spcBef>
                <a:spcPts val="600"/>
              </a:spcBef>
              <a:defRPr sz="1050" b="1">
                <a:solidFill>
                  <a:srgbClr val="F8FAFC"/>
                </a:solidFill>
              </a:defRPr>
            </a:pPr>
            <a:r>
              <a:t>• Database Scalability:</a:t>
            </a:r>
          </a:p>
          <a:p>
            <a:pPr>
              <a:defRPr sz="1000" b="1">
                <a:solidFill>
                  <a:srgbClr val="10B981"/>
                </a:solidFill>
              </a:defRPr>
            </a:pPr>
            <a:r>
              <a:t>  Unlimited gigabytes via PostgreSQL / Pinecone</a:t>
            </a:r>
          </a:p>
          <a:p>
            <a:pPr>
              <a:spcBef>
                <a:spcPts val="600"/>
              </a:spcBef>
              <a:defRPr sz="1050" b="1">
                <a:solidFill>
                  <a:srgbClr val="F8FAFC"/>
                </a:solidFill>
              </a:defRPr>
            </a:pPr>
            <a:r>
              <a:t>• Employee Adoption Barrier:</a:t>
            </a:r>
          </a:p>
          <a:p>
            <a:pPr>
              <a:defRPr sz="1000" b="1">
                <a:solidFill>
                  <a:srgbClr val="10B981"/>
                </a:solidFill>
              </a:defRPr>
            </a:pPr>
            <a:r>
              <a:t>  Zero (native chat inside Microsoft Teams)</a:t>
            </a:r>
          </a:p>
          <a:p>
            <a:pPr>
              <a:spcBef>
                <a:spcPts val="600"/>
              </a:spcBef>
              <a:defRPr sz="1050" b="1">
                <a:solidFill>
                  <a:srgbClr val="F8FAFC"/>
                </a:solidFill>
              </a:defRPr>
            </a:pPr>
            <a:r>
              <a:t>• Governance &amp; Compliance:</a:t>
            </a:r>
          </a:p>
          <a:p>
            <a:pPr>
              <a:defRPr sz="1000" b="1">
                <a:solidFill>
                  <a:srgbClr val="10B981"/>
                </a:solidFill>
              </a:defRPr>
            </a:pPr>
            <a:r>
              <a:t>  Decoupled audit logs ready for Power BI</a:t>
            </a:r>
          </a:p>
          <a:p>
            <a:pPr>
              <a:spcBef>
                <a:spcPts val="600"/>
              </a:spcBef>
              <a:defRPr sz="1050" b="1">
                <a:solidFill>
                  <a:srgbClr val="F8FAFC"/>
                </a:solidFill>
              </a:defRPr>
            </a:pPr>
            <a:r>
              <a:t>• Payback Horizon:</a:t>
            </a:r>
          </a:p>
          <a:p>
            <a:pPr>
              <a:defRPr sz="1000" b="1">
                <a:solidFill>
                  <a:srgbClr val="10B981"/>
                </a:solidFill>
              </a:defRPr>
            </a:pPr>
            <a:r>
              <a:t>  Day 1 (saves hundreds of HR hours immediately)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